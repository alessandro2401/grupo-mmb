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1045052"/>
            <a:ext cx="3000375" cy="9338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441488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1D3F"/>
                </a:solidFill>
              </a:rPr>
              <a:t>Ecossistema Integrado de Proteção, Mobilidade e Serviços Financeiros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1357313" y="3435865"/>
            <a:ext cx="6429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74A78"/>
                </a:solidFill>
              </a:rPr>
              <a:t>Apresentação Institucional para Investidores Qualificados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7" name="Text 3"/>
          <p:cNvSpPr/>
          <p:nvPr/>
        </p:nvSpPr>
        <p:spPr>
          <a:xfrm>
            <a:off x="2874857" y="4770239"/>
            <a:ext cx="33942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FFFFFF"/>
                </a:solidFill>
              </a:rPr>
              <a:t>Mobilidade • Multiproteção • Benefícios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149126"/>
            <a:ext cx="180661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Visão Executiva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357188" y="821531"/>
            <a:ext cx="7858125" cy="5400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 GRUPO MMB adota uma estratégia de diversificação controlada, operando de forma complementar nos mercados de seguro regulado, mutualismo, consórcios e canais de demanda, com uma arquitetura que separa gestão de risco, governança e tração comercial.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357188" y="1647332"/>
            <a:ext cx="2666991" cy="1573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1647332"/>
            <a:ext cx="2666991" cy="28575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25926"/>
            <a:ext cx="2381241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063" y="2161682"/>
            <a:ext cx="238124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1D3F"/>
                </a:solidFill>
              </a:rPr>
              <a:t>Eficiência Operacional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00063" y="2413499"/>
            <a:ext cx="238124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Estruturas compartilhadas que diluem custos fixos e permitem crescimento escalável das unidades de negócio sem aumento proporcional de despesas.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238491" y="1647332"/>
            <a:ext cx="2666991" cy="15448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238491" y="1647332"/>
            <a:ext cx="2666991" cy="28575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66" y="1825926"/>
            <a:ext cx="2381241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1366" y="2161682"/>
            <a:ext cx="238124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1D3F"/>
                </a:solidFill>
              </a:rPr>
              <a:t>Mitigação de Riscos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3381366" y="2413499"/>
            <a:ext cx="238124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Segregação funcional rigorosa entre entidades reguladas e não reguladas, reduzindo exposição jurídica e fortalecendo o compliance.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6119794" y="1647332"/>
            <a:ext cx="2667019" cy="15448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119794" y="1647332"/>
            <a:ext cx="2667019" cy="28575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69" y="1825926"/>
            <a:ext cx="2381269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2669" y="2161682"/>
            <a:ext cx="238126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001D3F"/>
                </a:solidFill>
              </a:rPr>
              <a:t>Maximização de LTV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6262669" y="2413499"/>
            <a:ext cx="238126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Funil proprietário que direciona cada perfil de cliente para a solução ideal (capacidade/risco), ampliando a captura de valor ao longo do tempo.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16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noFill/>
          <a:ln/>
        </p:spPr>
        <p:txBody>
          <a:bodyPr wrap="square" lIns="425196" tIns="0" rIns="425196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675408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Arquitetura Organizacional: Modelo de Dois Hubs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071563"/>
            <a:ext cx="4000500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071563"/>
            <a:ext cx="3993356" cy="9179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960959"/>
            <a:ext cx="3993356" cy="285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1285875"/>
            <a:ext cx="35647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D3F"/>
                </a:solidFill>
              </a:rPr>
              <a:t>HUB ADMINISTRATIVO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036136" y="1591270"/>
            <a:ext cx="7783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001D3F"/>
                </a:solidFill>
              </a:rPr>
              <a:t>GRUPO MMB</a:t>
            </a:r>
            <a:endParaRPr lang="en-US" sz="78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269927"/>
            <a:ext cx="171450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2981" y="2246709"/>
            <a:ext cx="1505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Governança Institucional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552105"/>
            <a:ext cx="171450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981" y="2528888"/>
            <a:ext cx="13026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Compliance e Jurídico</a:t>
            </a:r>
            <a:endParaRPr lang="en-US" sz="942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834283"/>
            <a:ext cx="171450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2981" y="2811066"/>
            <a:ext cx="10184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Gestão de Riscos</a:t>
            </a:r>
            <a:endParaRPr lang="en-US" sz="942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116461"/>
            <a:ext cx="171450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2981" y="3093244"/>
            <a:ext cx="11732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Tecnologia e Dados</a:t>
            </a:r>
            <a:endParaRPr lang="en-US" sz="942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398639"/>
            <a:ext cx="171450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92981" y="3375422"/>
            <a:ext cx="11279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Controles Internos</a:t>
            </a:r>
            <a:endParaRPr lang="en-US" sz="942" dirty="0"/>
          </a:p>
        </p:txBody>
      </p:sp>
      <p:sp>
        <p:nvSpPr>
          <p:cNvPr id="20" name="Text 12"/>
          <p:cNvSpPr/>
          <p:nvPr/>
        </p:nvSpPr>
        <p:spPr>
          <a:xfrm>
            <a:off x="714375" y="4195167"/>
            <a:ext cx="3421856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"Núcleo de estabilidade, eficiência e segurança institucional."</a:t>
            </a:r>
            <a:endParaRPr lang="en-US" sz="834" dirty="0"/>
          </a:p>
        </p:txBody>
      </p:sp>
      <p:sp>
        <p:nvSpPr>
          <p:cNvPr id="21" name="Shape 13"/>
          <p:cNvSpPr/>
          <p:nvPr/>
        </p:nvSpPr>
        <p:spPr>
          <a:xfrm>
            <a:off x="4357688" y="2357438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D9DDE2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2486025"/>
            <a:ext cx="171450" cy="17145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707731" y="1071563"/>
            <a:ext cx="4007644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714875" y="1071563"/>
            <a:ext cx="4000500" cy="917972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25" name="Shape 16"/>
          <p:cNvSpPr/>
          <p:nvPr/>
        </p:nvSpPr>
        <p:spPr>
          <a:xfrm>
            <a:off x="4714875" y="1960959"/>
            <a:ext cx="4000500" cy="28575"/>
          </a:xfrm>
          <a:prstGeom prst="rect">
            <a:avLst/>
          </a:prstGeom>
          <a:solidFill>
            <a:srgbClr val="274A78"/>
          </a:solidFill>
          <a:ln/>
        </p:spPr>
      </p:sp>
      <p:sp>
        <p:nvSpPr>
          <p:cNvPr id="26" name="Text 17"/>
          <p:cNvSpPr/>
          <p:nvPr/>
        </p:nvSpPr>
        <p:spPr>
          <a:xfrm>
            <a:off x="4929188" y="1285875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4A78"/>
                </a:solidFill>
              </a:rPr>
              <a:t>HUB COMERCIAL</a:t>
            </a:r>
            <a:endParaRPr lang="en-US" sz="1193" dirty="0"/>
          </a:p>
        </p:txBody>
      </p:sp>
      <p:sp>
        <p:nvSpPr>
          <p:cNvPr id="27" name="Text 18"/>
          <p:cNvSpPr/>
          <p:nvPr/>
        </p:nvSpPr>
        <p:spPr>
          <a:xfrm>
            <a:off x="6142090" y="1591270"/>
            <a:ext cx="11460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74A78"/>
                </a:solidFill>
              </a:rPr>
              <a:t>ALPHA PROTEÇÕES</a:t>
            </a:r>
            <a:endParaRPr lang="en-US" sz="784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269927"/>
            <a:ext cx="171450" cy="12858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279231" y="2246709"/>
            <a:ext cx="9781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Tração e Vendas</a:t>
            </a:r>
            <a:endParaRPr lang="en-US" sz="942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2552105"/>
            <a:ext cx="171450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279231" y="2528888"/>
            <a:ext cx="13856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Distribuição Multicanal</a:t>
            </a:r>
            <a:endParaRPr lang="en-US" sz="942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834283"/>
            <a:ext cx="171450" cy="1285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279231" y="2811066"/>
            <a:ext cx="11834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Inovação Comercial</a:t>
            </a:r>
            <a:endParaRPr lang="en-US" sz="942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116461"/>
            <a:ext cx="171450" cy="12858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79231" y="3093244"/>
            <a:ext cx="1538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Relacionamento B2B/B2C</a:t>
            </a:r>
            <a:endParaRPr lang="en-US" sz="942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625" y="3398639"/>
            <a:ext cx="171450" cy="12858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279231" y="3375422"/>
            <a:ext cx="12069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Marketing e Growth</a:t>
            </a:r>
            <a:endParaRPr lang="en-US" sz="942" dirty="0"/>
          </a:p>
        </p:txBody>
      </p:sp>
      <p:sp>
        <p:nvSpPr>
          <p:cNvPr id="38" name="Text 24"/>
          <p:cNvSpPr/>
          <p:nvPr/>
        </p:nvSpPr>
        <p:spPr>
          <a:xfrm>
            <a:off x="5000625" y="4195167"/>
            <a:ext cx="3429000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66666"/>
                </a:solidFill>
              </a:rPr>
              <a:t>"Frente de crescimento focada em conversão e experiência."</a:t>
            </a:r>
            <a:endParaRPr lang="en-US" sz="834" dirty="0"/>
          </a:p>
        </p:txBody>
      </p:sp>
      <p:sp>
        <p:nvSpPr>
          <p:cNvPr id="39" name="Text 25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593193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Hub Administrativo: Estabilidade e Controle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71563"/>
            <a:ext cx="5086350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D3F"/>
                </a:solidFill>
              </a:rPr>
              <a:t>Funções Centralizadas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605558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" y="1698427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1605558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Finanças e Contabilidade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928688" y="1816298"/>
            <a:ext cx="19002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Consolidação de resultados, gestão de caixa unificada e planejamento financeiro estratégico.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3114675" y="1605558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113" y="1698427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14738" y="1605558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Jurídico e Compliance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3614738" y="1816298"/>
            <a:ext cx="19002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Garantia de aderência regulatória (SUSEP), gestão contratual e segurança jurídica.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428625" y="2450613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2543482"/>
            <a:ext cx="214313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8688" y="2450613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Recursos Humanos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928688" y="2661354"/>
            <a:ext cx="19002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Gestão unificada de pessoas, cultura organizacional e desenvolvimento de talentos.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3114675" y="2450613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544" y="2543482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14738" y="2450613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Tecnologia e Dados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3614738" y="2661354"/>
            <a:ext cx="19002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Infraestrutura centralizada, segurança da informação e inteligência de dados.</a:t>
            </a:r>
            <a:endParaRPr lang="en-US" sz="727" dirty="0"/>
          </a:p>
        </p:txBody>
      </p:sp>
      <p:sp>
        <p:nvSpPr>
          <p:cNvPr id="22" name="Shape 15"/>
          <p:cNvSpPr/>
          <p:nvPr/>
        </p:nvSpPr>
        <p:spPr>
          <a:xfrm>
            <a:off x="428625" y="3295669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4" y="3388537"/>
            <a:ext cx="171450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28688" y="3295669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Gestão de Riscos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928688" y="3506409"/>
            <a:ext cx="19002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Supervisão técnica, controle rigoroso de sinistros e sistemas antifraude.</a:t>
            </a:r>
            <a:endParaRPr lang="en-US" sz="727" dirty="0"/>
          </a:p>
        </p:txBody>
      </p:sp>
      <p:sp>
        <p:nvSpPr>
          <p:cNvPr id="26" name="Shape 18"/>
          <p:cNvSpPr/>
          <p:nvPr/>
        </p:nvSpPr>
        <p:spPr>
          <a:xfrm>
            <a:off x="3114675" y="3295669"/>
            <a:ext cx="357188" cy="357188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975" y="3388537"/>
            <a:ext cx="128588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14738" y="3295669"/>
            <a:ext cx="190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1D3F"/>
                </a:solidFill>
              </a:rPr>
              <a:t>Controles Internos</a:t>
            </a:r>
            <a:endParaRPr lang="en-US" sz="885" dirty="0"/>
          </a:p>
        </p:txBody>
      </p:sp>
      <p:sp>
        <p:nvSpPr>
          <p:cNvPr id="29" name="Text 20"/>
          <p:cNvSpPr/>
          <p:nvPr/>
        </p:nvSpPr>
        <p:spPr>
          <a:xfrm>
            <a:off x="3614738" y="3506409"/>
            <a:ext cx="19002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Auditoria contínua, rastreabilidade de processos e governança corporativa.</a:t>
            </a:r>
            <a:endParaRPr lang="en-US" sz="727" dirty="0"/>
          </a:p>
        </p:txBody>
      </p:sp>
      <p:sp>
        <p:nvSpPr>
          <p:cNvPr id="30" name="Text 21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  <p:sp>
        <p:nvSpPr>
          <p:cNvPr id="31" name="Shape 22"/>
          <p:cNvSpPr/>
          <p:nvPr/>
        </p:nvSpPr>
        <p:spPr>
          <a:xfrm>
            <a:off x="5943600" y="714375"/>
            <a:ext cx="3200400" cy="442912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32" name="Text 23"/>
          <p:cNvSpPr/>
          <p:nvPr/>
        </p:nvSpPr>
        <p:spPr>
          <a:xfrm>
            <a:off x="6229350" y="1477528"/>
            <a:ext cx="2628900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Impacto Econômico</a:t>
            </a:r>
            <a:endParaRPr lang="en-US" sz="1193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2155822"/>
            <a:ext cx="207029" cy="21431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43535" y="2082961"/>
            <a:ext cx="231471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Diluição de custos fixos entre unidades</a:t>
            </a:r>
            <a:endParaRPr lang="en-US" sz="885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350" y="2730168"/>
            <a:ext cx="192016" cy="21431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28522" y="2657308"/>
            <a:ext cx="23297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Ganhos de escala sem aumento estrutural</a:t>
            </a:r>
            <a:endParaRPr lang="en-US" sz="885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9350" y="3304515"/>
            <a:ext cx="208341" cy="2143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544847" y="3231654"/>
            <a:ext cx="231340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Padronização de processos e eficiência</a:t>
            </a:r>
            <a:endParaRPr lang="en-US" sz="885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3878861"/>
            <a:ext cx="204267" cy="214313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540773" y="3806000"/>
            <a:ext cx="231747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Previsibilidade financeira e estabilidade</a:t>
            </a:r>
            <a:endParaRPr lang="en-US" sz="885" dirty="0"/>
          </a:p>
        </p:txBody>
      </p:sp>
      <p:sp>
        <p:nvSpPr>
          <p:cNvPr id="41" name="Text 28"/>
          <p:cNvSpPr/>
          <p:nvPr/>
        </p:nvSpPr>
        <p:spPr>
          <a:xfrm>
            <a:off x="7841438" y="4813102"/>
            <a:ext cx="10168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Investidores Qualificados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250031"/>
            <a:ext cx="5028530" cy="714375"/>
          </a:xfrm>
          <a:prstGeom prst="rect">
            <a:avLst/>
          </a:prstGeom>
          <a:solidFill>
            <a:srgbClr val="001D3F">
              <a:alpha val="9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35781" y="481310"/>
            <a:ext cx="263925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spc="1" kern="0" dirty="0">
                <a:solidFill>
                  <a:srgbClr val="FFFFFF"/>
                </a:solidFill>
              </a:rPr>
              <a:t>Ecossistema Integrado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3175034" y="561677"/>
            <a:ext cx="20320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1D5DB"/>
                </a:solidFill>
              </a:rPr>
              <a:t>Visão Consolidada de Governança e Operação</a:t>
            </a:r>
            <a:endParaRPr lang="en-US" sz="634" dirty="0"/>
          </a:p>
        </p:txBody>
      </p:sp>
      <p:sp>
        <p:nvSpPr>
          <p:cNvPr id="6" name="Shape 3"/>
          <p:cNvSpPr/>
          <p:nvPr/>
        </p:nvSpPr>
        <p:spPr>
          <a:xfrm>
            <a:off x="3857625" y="1143000"/>
            <a:ext cx="1428750" cy="1428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1D3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656" y="1635165"/>
            <a:ext cx="928688" cy="2890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4497" y="1981358"/>
            <a:ext cx="103500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6B7280"/>
                </a:solidFill>
              </a:rPr>
              <a:t>Holding &amp; Governança</a:t>
            </a:r>
            <a:endParaRPr lang="en-US" sz="485" dirty="0"/>
          </a:p>
        </p:txBody>
      </p:sp>
      <p:sp>
        <p:nvSpPr>
          <p:cNvPr id="9" name="Shape 5"/>
          <p:cNvSpPr/>
          <p:nvPr/>
        </p:nvSpPr>
        <p:spPr>
          <a:xfrm>
            <a:off x="428625" y="1428750"/>
            <a:ext cx="1928813" cy="846534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28625" y="1428750"/>
            <a:ext cx="35719" cy="846534"/>
          </a:xfrm>
          <a:prstGeom prst="rect">
            <a:avLst/>
          </a:prstGeom>
          <a:solidFill>
            <a:srgbClr val="71809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575197"/>
            <a:ext cx="103584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947" y="1557338"/>
            <a:ext cx="1187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748"/>
                </a:solidFill>
              </a:rPr>
              <a:t>Hub Administrativo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557213" y="1778794"/>
            <a:ext cx="810816" cy="15894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826121"/>
            <a:ext cx="64294" cy="642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4375" y="1814513"/>
            <a:ext cx="22634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4A5568"/>
                </a:solidFill>
              </a:rPr>
              <a:t>Jurídico</a:t>
            </a:r>
            <a:endParaRPr lang="en-US" sz="463" dirty="0"/>
          </a:p>
        </p:txBody>
      </p:sp>
      <p:sp>
        <p:nvSpPr>
          <p:cNvPr id="16" name="Shape 10"/>
          <p:cNvSpPr/>
          <p:nvPr/>
        </p:nvSpPr>
        <p:spPr>
          <a:xfrm>
            <a:off x="1418034" y="1778794"/>
            <a:ext cx="810816" cy="15894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184" y="1826121"/>
            <a:ext cx="73223" cy="642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84127" y="1814513"/>
            <a:ext cx="26323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4A5568"/>
                </a:solidFill>
              </a:rPr>
              <a:t>Finanças</a:t>
            </a:r>
            <a:endParaRPr lang="en-US" sz="463" dirty="0"/>
          </a:p>
        </p:txBody>
      </p:sp>
      <p:sp>
        <p:nvSpPr>
          <p:cNvPr id="19" name="Shape 12"/>
          <p:cNvSpPr/>
          <p:nvPr/>
        </p:nvSpPr>
        <p:spPr>
          <a:xfrm>
            <a:off x="557213" y="1987748"/>
            <a:ext cx="810816" cy="15894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2035076"/>
            <a:ext cx="64294" cy="6429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4375" y="2023467"/>
            <a:ext cx="32470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4A5568"/>
                </a:solidFill>
              </a:rPr>
              <a:t>Tecnologia</a:t>
            </a:r>
            <a:endParaRPr lang="en-US" sz="463" dirty="0"/>
          </a:p>
        </p:txBody>
      </p:sp>
      <p:sp>
        <p:nvSpPr>
          <p:cNvPr id="22" name="Shape 14"/>
          <p:cNvSpPr/>
          <p:nvPr/>
        </p:nvSpPr>
        <p:spPr>
          <a:xfrm>
            <a:off x="1418034" y="1987748"/>
            <a:ext cx="810816" cy="15894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5184" y="2035076"/>
            <a:ext cx="80367" cy="6429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591270" y="2023467"/>
            <a:ext cx="35529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4A5568"/>
                </a:solidFill>
              </a:rPr>
              <a:t>Compliance</a:t>
            </a:r>
            <a:endParaRPr lang="en-US" sz="463" dirty="0"/>
          </a:p>
        </p:txBody>
      </p:sp>
      <p:sp>
        <p:nvSpPr>
          <p:cNvPr id="25" name="Shape 16"/>
          <p:cNvSpPr/>
          <p:nvPr/>
        </p:nvSpPr>
        <p:spPr>
          <a:xfrm>
            <a:off x="6715125" y="1428750"/>
            <a:ext cx="2000250" cy="1693794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8679656" y="1428750"/>
            <a:ext cx="35719" cy="1693794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100" y="1575197"/>
            <a:ext cx="103584" cy="10001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356835" y="1557338"/>
            <a:ext cx="8775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4A78"/>
                </a:solidFill>
              </a:rPr>
              <a:t>Hub Comercial</a:t>
            </a:r>
            <a:endParaRPr lang="en-US" sz="683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2344" y="1778794"/>
            <a:ext cx="785813" cy="95977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6843713" y="2810005"/>
            <a:ext cx="1743075" cy="183952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1" name="Text 20"/>
          <p:cNvSpPr/>
          <p:nvPr/>
        </p:nvSpPr>
        <p:spPr>
          <a:xfrm>
            <a:off x="6843713" y="2810005"/>
            <a:ext cx="1743075" cy="18395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C5282"/>
                </a:solidFill>
              </a:rPr>
              <a:t>Tração &amp; Distribuição Multicanal</a:t>
            </a:r>
            <a:endParaRPr lang="en-US" sz="485" dirty="0"/>
          </a:p>
        </p:txBody>
      </p:sp>
      <p:sp>
        <p:nvSpPr>
          <p:cNvPr id="32" name="Shape 21"/>
          <p:cNvSpPr/>
          <p:nvPr/>
        </p:nvSpPr>
        <p:spPr>
          <a:xfrm>
            <a:off x="3929063" y="2714625"/>
            <a:ext cx="1285875" cy="562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2"/>
          <p:cNvSpPr/>
          <p:nvPr/>
        </p:nvSpPr>
        <p:spPr>
          <a:xfrm>
            <a:off x="3929063" y="2714625"/>
            <a:ext cx="1285875" cy="2143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053" y="2800350"/>
            <a:ext cx="219894" cy="228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229546" y="3086100"/>
            <a:ext cx="684879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Topo de Funil &amp; Dados</a:t>
            </a:r>
            <a:endParaRPr lang="en-US" sz="435" dirty="0"/>
          </a:p>
        </p:txBody>
      </p:sp>
      <p:sp>
        <p:nvSpPr>
          <p:cNvPr id="36" name="Shape 24"/>
          <p:cNvSpPr/>
          <p:nvPr/>
        </p:nvSpPr>
        <p:spPr>
          <a:xfrm>
            <a:off x="7601750" y="3168078"/>
            <a:ext cx="1143000" cy="562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5"/>
          <p:cNvSpPr/>
          <p:nvPr/>
        </p:nvSpPr>
        <p:spPr>
          <a:xfrm>
            <a:off x="7601750" y="3168078"/>
            <a:ext cx="1143000" cy="21431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747" y="3253803"/>
            <a:ext cx="596978" cy="2286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905778" y="3539553"/>
            <a:ext cx="534944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Mídia &amp; Branding</a:t>
            </a:r>
            <a:endParaRPr lang="en-US" sz="435" dirty="0"/>
          </a:p>
        </p:txBody>
      </p:sp>
      <p:sp>
        <p:nvSpPr>
          <p:cNvPr id="40" name="Shape 27"/>
          <p:cNvSpPr/>
          <p:nvPr/>
        </p:nvSpPr>
        <p:spPr>
          <a:xfrm>
            <a:off x="1321594" y="4000500"/>
            <a:ext cx="1071563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28"/>
          <p:cNvSpPr/>
          <p:nvPr/>
        </p:nvSpPr>
        <p:spPr>
          <a:xfrm>
            <a:off x="1321594" y="4000500"/>
            <a:ext cx="1071563" cy="21431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5979" y="4100513"/>
            <a:ext cx="282764" cy="22860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492765" y="4386263"/>
            <a:ext cx="729221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Seguros Personalizados</a:t>
            </a:r>
            <a:endParaRPr lang="en-US" sz="435" dirty="0"/>
          </a:p>
        </p:txBody>
      </p:sp>
      <p:sp>
        <p:nvSpPr>
          <p:cNvPr id="44" name="Shape 30"/>
          <p:cNvSpPr/>
          <p:nvPr/>
        </p:nvSpPr>
        <p:spPr>
          <a:xfrm>
            <a:off x="2678906" y="4000500"/>
            <a:ext cx="1071563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1"/>
          <p:cNvSpPr/>
          <p:nvPr/>
        </p:nvSpPr>
        <p:spPr>
          <a:xfrm>
            <a:off x="2678906" y="4000500"/>
            <a:ext cx="1071563" cy="21431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57274" y="4100513"/>
            <a:ext cx="314799" cy="22860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2907981" y="4386263"/>
            <a:ext cx="613386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Auto por Assinatura</a:t>
            </a:r>
            <a:endParaRPr lang="en-US" sz="435" dirty="0"/>
          </a:p>
        </p:txBody>
      </p:sp>
      <p:sp>
        <p:nvSpPr>
          <p:cNvPr id="48" name="Shape 33"/>
          <p:cNvSpPr/>
          <p:nvPr/>
        </p:nvSpPr>
        <p:spPr>
          <a:xfrm>
            <a:off x="4036219" y="4000500"/>
            <a:ext cx="1071563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34"/>
          <p:cNvSpPr/>
          <p:nvPr/>
        </p:nvSpPr>
        <p:spPr>
          <a:xfrm>
            <a:off x="4036219" y="4000500"/>
            <a:ext cx="1071563" cy="21431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1427" y="4100513"/>
            <a:ext cx="421146" cy="22860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4262279" y="4386263"/>
            <a:ext cx="619413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Proteção Mutualista</a:t>
            </a:r>
            <a:endParaRPr lang="en-US" sz="435" dirty="0"/>
          </a:p>
        </p:txBody>
      </p:sp>
      <p:sp>
        <p:nvSpPr>
          <p:cNvPr id="52" name="Shape 36"/>
          <p:cNvSpPr/>
          <p:nvPr/>
        </p:nvSpPr>
        <p:spPr>
          <a:xfrm>
            <a:off x="5393531" y="4000500"/>
            <a:ext cx="1071563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37"/>
          <p:cNvSpPr/>
          <p:nvPr/>
        </p:nvSpPr>
        <p:spPr>
          <a:xfrm>
            <a:off x="5393531" y="4000500"/>
            <a:ext cx="1071563" cy="21431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5013" y="4100513"/>
            <a:ext cx="228600" cy="22860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5776894" y="4386263"/>
            <a:ext cx="304837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Consórcio</a:t>
            </a:r>
            <a:endParaRPr lang="en-US" sz="435" dirty="0"/>
          </a:p>
        </p:txBody>
      </p:sp>
      <p:sp>
        <p:nvSpPr>
          <p:cNvPr id="56" name="Shape 39"/>
          <p:cNvSpPr/>
          <p:nvPr/>
        </p:nvSpPr>
        <p:spPr>
          <a:xfrm>
            <a:off x="6750844" y="4000500"/>
            <a:ext cx="1071563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40"/>
          <p:cNvSpPr/>
          <p:nvPr/>
        </p:nvSpPr>
        <p:spPr>
          <a:xfrm>
            <a:off x="6750844" y="4000500"/>
            <a:ext cx="1071563" cy="21431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59098" y="4100513"/>
            <a:ext cx="255026" cy="228600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932981" y="4386263"/>
            <a:ext cx="707259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6B7280"/>
                </a:solidFill>
              </a:rPr>
              <a:t>Benefícios e Descontos</a:t>
            </a:r>
            <a:endParaRPr lang="en-US" sz="435" dirty="0"/>
          </a:p>
        </p:txBody>
      </p:sp>
      <p:sp>
        <p:nvSpPr>
          <p:cNvPr id="60" name="Shape 42"/>
          <p:cNvSpPr/>
          <p:nvPr/>
        </p:nvSpPr>
        <p:spPr>
          <a:xfrm>
            <a:off x="3214367" y="4766667"/>
            <a:ext cx="2715267" cy="198239"/>
          </a:xfrm>
          <a:prstGeom prst="roundRect">
            <a:avLst/>
          </a:prstGeom>
          <a:solidFill>
            <a:srgbClr val="1F2937"/>
          </a:solidFill>
          <a:ln/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2954" y="4830961"/>
            <a:ext cx="69652" cy="71438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3455468" y="4816673"/>
            <a:ext cx="234557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spc="1" kern="0" dirty="0">
                <a:solidFill>
                  <a:srgbClr val="F9FAFB"/>
                </a:solidFill>
              </a:rPr>
              <a:t>Governança Corporativa &amp; Segregação Funcional</a:t>
            </a:r>
            <a:endParaRPr lang="en-US" sz="485" dirty="0"/>
          </a:p>
        </p:txBody>
      </p:sp>
      <p:sp>
        <p:nvSpPr>
          <p:cNvPr id="63" name="Text 44"/>
          <p:cNvSpPr/>
          <p:nvPr/>
        </p:nvSpPr>
        <p:spPr>
          <a:xfrm>
            <a:off x="7596569" y="4813102"/>
            <a:ext cx="11188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Master Slide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9692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Hub Comercial: Tração e Distribuição</a:t>
            </a:r>
            <a:endParaRPr lang="en-US" sz="160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48" y="1143000"/>
            <a:ext cx="1169761" cy="14287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2857500"/>
            <a:ext cx="233003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Frente de crescimento e distribuição do ecossistema, atuando de forma agnóstica para maximizar conversão e eficiência comercial.</a:t>
            </a:r>
            <a:endParaRPr lang="en-US" sz="88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053" y="1418927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1660" y="1407319"/>
            <a:ext cx="13736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Gestão de Vendas</a:t>
            </a:r>
            <a:endParaRPr lang="en-US" sz="987" dirty="0"/>
          </a:p>
        </p:txBody>
      </p:sp>
      <p:sp>
        <p:nvSpPr>
          <p:cNvPr id="9" name="Text 4"/>
          <p:cNvSpPr/>
          <p:nvPr/>
        </p:nvSpPr>
        <p:spPr>
          <a:xfrm>
            <a:off x="3623053" y="1794867"/>
            <a:ext cx="24032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Força de vendas própria e canais indiretos focados em velocidade de conversão e escalabilidade.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89" y="1418927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33558" y="1407319"/>
            <a:ext cx="9328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Tecnologia</a:t>
            </a:r>
            <a:endParaRPr lang="en-US" sz="987" dirty="0"/>
          </a:p>
        </p:txBody>
      </p:sp>
      <p:sp>
        <p:nvSpPr>
          <p:cNvPr id="12" name="Text 6"/>
          <p:cNvSpPr/>
          <p:nvPr/>
        </p:nvSpPr>
        <p:spPr>
          <a:xfrm>
            <a:off x="6312089" y="1794867"/>
            <a:ext cx="24032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Desenvolvimento de plataformas digitais, automação de processos e otimização da experiência do usuário (UX).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053" y="2606576"/>
            <a:ext cx="214313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44522" y="2594967"/>
            <a:ext cx="12725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Canais B2B e B2C</a:t>
            </a:r>
            <a:endParaRPr lang="en-US" sz="987" dirty="0"/>
          </a:p>
        </p:txBody>
      </p:sp>
      <p:sp>
        <p:nvSpPr>
          <p:cNvPr id="15" name="Text 8"/>
          <p:cNvSpPr/>
          <p:nvPr/>
        </p:nvSpPr>
        <p:spPr>
          <a:xfrm>
            <a:off x="3623053" y="2982516"/>
            <a:ext cx="24032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Gestão de parcerias estratégicas, marketplaces e distribuição multicanal integrada.</a:t>
            </a:r>
            <a:endParaRPr lang="en-US" sz="834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089" y="2606576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590695" y="2594967"/>
            <a:ext cx="13347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Marketing e CRM</a:t>
            </a:r>
            <a:endParaRPr lang="en-US" sz="987" dirty="0"/>
          </a:p>
        </p:txBody>
      </p:sp>
      <p:sp>
        <p:nvSpPr>
          <p:cNvPr id="18" name="Text 10"/>
          <p:cNvSpPr/>
          <p:nvPr/>
        </p:nvSpPr>
        <p:spPr>
          <a:xfrm>
            <a:off x="6312089" y="2982516"/>
            <a:ext cx="24032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Estratégias de branding, retenção, cross-selling e gestão do ciclo de vida do cliente.</a:t>
            </a:r>
            <a:endParaRPr lang="en-US" sz="834" dirty="0"/>
          </a:p>
        </p:txBody>
      </p:sp>
      <p:sp>
        <p:nvSpPr>
          <p:cNvPr id="19" name="Shape 11"/>
          <p:cNvSpPr/>
          <p:nvPr/>
        </p:nvSpPr>
        <p:spPr>
          <a:xfrm>
            <a:off x="3623053" y="3854053"/>
            <a:ext cx="5092322" cy="596503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2"/>
          <p:cNvSpPr/>
          <p:nvPr/>
        </p:nvSpPr>
        <p:spPr>
          <a:xfrm>
            <a:off x="3623053" y="3854053"/>
            <a:ext cx="35719" cy="596503"/>
          </a:xfrm>
          <a:prstGeom prst="rect">
            <a:avLst/>
          </a:prstGeom>
          <a:solidFill>
            <a:srgbClr val="274A78"/>
          </a:solidFill>
          <a:ln/>
        </p:spPr>
      </p:sp>
      <p:sp>
        <p:nvSpPr>
          <p:cNvPr id="21" name="Text 13"/>
          <p:cNvSpPr/>
          <p:nvPr/>
        </p:nvSpPr>
        <p:spPr>
          <a:xfrm>
            <a:off x="3623053" y="3854053"/>
            <a:ext cx="5092322" cy="5965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333333"/>
                </a:solidFill>
              </a:rPr>
              <a:t>"A separação entre subscrição de risco e distribuição permite testar novos canais com agilidade, sem comprometer a solidez institucional."</a:t>
            </a:r>
            <a:endParaRPr lang="en-US" sz="834" dirty="0"/>
          </a:p>
        </p:txBody>
      </p:sp>
      <p:sp>
        <p:nvSpPr>
          <p:cNvPr id="22" name="Text 14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50838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Unidades de Negócio e Cadeia de Valor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00125"/>
            <a:ext cx="642937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 ecossistema é composto por unidades especializadas que atendem perfis distintos de risco e renda, integradas operacionalmente.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564481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26" y="1707356"/>
            <a:ext cx="412328" cy="4285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6730" y="2243138"/>
            <a:ext cx="11283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Topo de Funil &amp; Dados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571500" y="2416373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Agregador de leads e portal de conteúdo. Captação de demanda ampla e qualificação de perfis.</a:t>
            </a:r>
            <a:endParaRPr lang="en-US" sz="674" dirty="0"/>
          </a:p>
        </p:txBody>
      </p:sp>
      <p:sp>
        <p:nvSpPr>
          <p:cNvPr id="10" name="Shape 6"/>
          <p:cNvSpPr/>
          <p:nvPr/>
        </p:nvSpPr>
        <p:spPr>
          <a:xfrm>
            <a:off x="2536031" y="1564481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829" y="1707384"/>
            <a:ext cx="350909" cy="4285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56449" y="2243138"/>
            <a:ext cx="7236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Hub de Vendas</a:t>
            </a:r>
            <a:endParaRPr lang="en-US" sz="584" dirty="0"/>
          </a:p>
        </p:txBody>
      </p:sp>
      <p:sp>
        <p:nvSpPr>
          <p:cNvPr id="13" name="Text 8"/>
          <p:cNvSpPr/>
          <p:nvPr/>
        </p:nvSpPr>
        <p:spPr>
          <a:xfrm>
            <a:off x="2678906" y="2416373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Comercialização multicanal de todo o portfólio. Foco em conversão e eficiência comercial.</a:t>
            </a:r>
            <a:endParaRPr lang="en-US" sz="674" dirty="0"/>
          </a:p>
        </p:txBody>
      </p:sp>
      <p:sp>
        <p:nvSpPr>
          <p:cNvPr id="14" name="Shape 9"/>
          <p:cNvSpPr/>
          <p:nvPr/>
        </p:nvSpPr>
        <p:spPr>
          <a:xfrm>
            <a:off x="4643438" y="1564481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03" y="1707356"/>
            <a:ext cx="530200" cy="4285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99313" y="2243138"/>
            <a:ext cx="12527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Seguros Personalizados</a:t>
            </a:r>
            <a:endParaRPr lang="en-US" sz="584" dirty="0"/>
          </a:p>
        </p:txBody>
      </p:sp>
      <p:sp>
        <p:nvSpPr>
          <p:cNvPr id="17" name="Text 11"/>
          <p:cNvSpPr/>
          <p:nvPr/>
        </p:nvSpPr>
        <p:spPr>
          <a:xfrm>
            <a:off x="4786313" y="2416373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Intermediação de riscos complexos e alta renda. Consultoria técnica e relação com seguradoras.</a:t>
            </a:r>
            <a:endParaRPr lang="en-US" sz="674" dirty="0"/>
          </a:p>
        </p:txBody>
      </p:sp>
      <p:sp>
        <p:nvSpPr>
          <p:cNvPr id="18" name="Shape 12"/>
          <p:cNvSpPr/>
          <p:nvPr/>
        </p:nvSpPr>
        <p:spPr>
          <a:xfrm>
            <a:off x="6750844" y="1564481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983" y="1707356"/>
            <a:ext cx="590224" cy="42859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14629" y="2243138"/>
            <a:ext cx="10369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Seguro Auto Mensal</a:t>
            </a:r>
            <a:endParaRPr lang="en-US" sz="584" dirty="0"/>
          </a:p>
        </p:txBody>
      </p:sp>
      <p:sp>
        <p:nvSpPr>
          <p:cNvPr id="21" name="Text 14"/>
          <p:cNvSpPr/>
          <p:nvPr/>
        </p:nvSpPr>
        <p:spPr>
          <a:xfrm>
            <a:off x="6893719" y="2416373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Produto massificado por assinatura. Alta flexibilidade, tecnologia e vistoria digital.</a:t>
            </a:r>
            <a:endParaRPr lang="en-US" sz="674" dirty="0"/>
          </a:p>
        </p:txBody>
      </p:sp>
      <p:sp>
        <p:nvSpPr>
          <p:cNvPr id="22" name="Shape 15"/>
          <p:cNvSpPr/>
          <p:nvPr/>
        </p:nvSpPr>
        <p:spPr>
          <a:xfrm>
            <a:off x="428625" y="3236454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578" y="3379329"/>
            <a:ext cx="428625" cy="4286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38535" y="3915110"/>
            <a:ext cx="5447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Consórcio</a:t>
            </a:r>
            <a:endParaRPr lang="en-US" sz="584" dirty="0"/>
          </a:p>
        </p:txBody>
      </p:sp>
      <p:sp>
        <p:nvSpPr>
          <p:cNvPr id="25" name="Text 17"/>
          <p:cNvSpPr/>
          <p:nvPr/>
        </p:nvSpPr>
        <p:spPr>
          <a:xfrm>
            <a:off x="571500" y="4088346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Aquisição de bens e planejamento financeiro. Receitas recorrentes e longo prazo.</a:t>
            </a:r>
            <a:endParaRPr lang="en-US" sz="674" dirty="0"/>
          </a:p>
        </p:txBody>
      </p:sp>
      <p:sp>
        <p:nvSpPr>
          <p:cNvPr id="26" name="Shape 18"/>
          <p:cNvSpPr/>
          <p:nvPr/>
        </p:nvSpPr>
        <p:spPr>
          <a:xfrm>
            <a:off x="2536031" y="3236454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465" y="3379329"/>
            <a:ext cx="789663" cy="42859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880047" y="3915110"/>
            <a:ext cx="1276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Mutualismo &amp; Benefícios</a:t>
            </a:r>
            <a:endParaRPr lang="en-US" sz="584" dirty="0"/>
          </a:p>
        </p:txBody>
      </p:sp>
      <p:sp>
        <p:nvSpPr>
          <p:cNvPr id="29" name="Text 20"/>
          <p:cNvSpPr/>
          <p:nvPr/>
        </p:nvSpPr>
        <p:spPr>
          <a:xfrm>
            <a:off x="2678906" y="4088346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Associação de proteção veicular para classe média. Rateio de despesas e serviços agregados.</a:t>
            </a:r>
            <a:endParaRPr lang="en-US" sz="674" dirty="0"/>
          </a:p>
        </p:txBody>
      </p:sp>
      <p:sp>
        <p:nvSpPr>
          <p:cNvPr id="30" name="Shape 21"/>
          <p:cNvSpPr/>
          <p:nvPr/>
        </p:nvSpPr>
        <p:spPr>
          <a:xfrm>
            <a:off x="4643438" y="3236454"/>
            <a:ext cx="1964531" cy="1529097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6611" y="3365041"/>
            <a:ext cx="478185" cy="428597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036204" y="3900822"/>
            <a:ext cx="11789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Benefícios e Descontos</a:t>
            </a:r>
            <a:endParaRPr lang="en-US" sz="584" dirty="0"/>
          </a:p>
        </p:txBody>
      </p:sp>
      <p:sp>
        <p:nvSpPr>
          <p:cNvPr id="33" name="Text 23"/>
          <p:cNvSpPr/>
          <p:nvPr/>
        </p:nvSpPr>
        <p:spPr>
          <a:xfrm>
            <a:off x="4786313" y="4074058"/>
            <a:ext cx="1678781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Clube de vantagens e descontos exclusivos para motociclistas. Estratégia de comunidade e pertencimento.</a:t>
            </a:r>
            <a:endParaRPr lang="en-US" sz="674" dirty="0"/>
          </a:p>
        </p:txBody>
      </p:sp>
      <p:sp>
        <p:nvSpPr>
          <p:cNvPr id="34" name="Shape 24"/>
          <p:cNvSpPr/>
          <p:nvPr/>
        </p:nvSpPr>
        <p:spPr>
          <a:xfrm>
            <a:off x="6750844" y="3222166"/>
            <a:ext cx="1964531" cy="1514810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3441" y="3365041"/>
            <a:ext cx="1119336" cy="428597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86960" y="3900822"/>
            <a:ext cx="8922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74A78"/>
                </a:solidFill>
              </a:rPr>
              <a:t>Mídia &amp; Educação</a:t>
            </a:r>
            <a:endParaRPr lang="en-US" sz="584" dirty="0"/>
          </a:p>
        </p:txBody>
      </p:sp>
      <p:sp>
        <p:nvSpPr>
          <p:cNvPr id="37" name="Text 26"/>
          <p:cNvSpPr/>
          <p:nvPr/>
        </p:nvSpPr>
        <p:spPr>
          <a:xfrm>
            <a:off x="6893719" y="4074058"/>
            <a:ext cx="1678781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44444"/>
                </a:solidFill>
              </a:rPr>
              <a:t>Canal de conteúdo e podcast. Fortalecimento de marca e autoridade institucional.</a:t>
            </a:r>
            <a:endParaRPr lang="en-US" sz="674" dirty="0"/>
          </a:p>
        </p:txBody>
      </p:sp>
      <p:sp>
        <p:nvSpPr>
          <p:cNvPr id="38" name="Text 27"/>
          <p:cNvSpPr/>
          <p:nvPr/>
        </p:nvSpPr>
        <p:spPr>
          <a:xfrm>
            <a:off x="7027961" y="4870191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50838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Unidades de Negócio e Cadeia de Valor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0012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Sites das marcas do ecossistema.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3894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26" y="1568053"/>
            <a:ext cx="412328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221" y="2256532"/>
            <a:ext cx="9253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Topo de Funil &amp; Dados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535781" y="25967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https://www.movimentomaisseguro.com.br/</a:t>
            </a:r>
            <a:endParaRPr lang="en-US" sz="568" dirty="0"/>
          </a:p>
        </p:txBody>
      </p:sp>
      <p:sp>
        <p:nvSpPr>
          <p:cNvPr id="10" name="Shape 6"/>
          <p:cNvSpPr/>
          <p:nvPr/>
        </p:nvSpPr>
        <p:spPr>
          <a:xfrm>
            <a:off x="2536031" y="13894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829" y="1568053"/>
            <a:ext cx="350909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5869" y="2256532"/>
            <a:ext cx="6248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Hub de Vendas</a:t>
            </a:r>
            <a:endParaRPr lang="en-US" sz="584" dirty="0"/>
          </a:p>
        </p:txBody>
      </p:sp>
      <p:sp>
        <p:nvSpPr>
          <p:cNvPr id="13" name="Text 8"/>
          <p:cNvSpPr/>
          <p:nvPr/>
        </p:nvSpPr>
        <p:spPr>
          <a:xfrm>
            <a:off x="2643188" y="25967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https://www.alphaprotecoes.com.br/</a:t>
            </a:r>
            <a:endParaRPr lang="en-US" sz="568" dirty="0"/>
          </a:p>
        </p:txBody>
      </p:sp>
      <p:sp>
        <p:nvSpPr>
          <p:cNvPr id="14" name="Shape 9"/>
          <p:cNvSpPr/>
          <p:nvPr/>
        </p:nvSpPr>
        <p:spPr>
          <a:xfrm>
            <a:off x="4643438" y="13894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03" y="1568053"/>
            <a:ext cx="530200" cy="4286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1557" y="2256532"/>
            <a:ext cx="9882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Seguros Personalizados</a:t>
            </a:r>
            <a:endParaRPr lang="en-US" sz="584" dirty="0"/>
          </a:p>
        </p:txBody>
      </p:sp>
      <p:sp>
        <p:nvSpPr>
          <p:cNvPr id="17" name="Text 11"/>
          <p:cNvSpPr/>
          <p:nvPr/>
        </p:nvSpPr>
        <p:spPr>
          <a:xfrm>
            <a:off x="4750594" y="25967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https://www.solucoescorretora.com.br/</a:t>
            </a:r>
            <a:endParaRPr lang="en-US" sz="568" dirty="0"/>
          </a:p>
        </p:txBody>
      </p:sp>
      <p:sp>
        <p:nvSpPr>
          <p:cNvPr id="18" name="Shape 12"/>
          <p:cNvSpPr/>
          <p:nvPr/>
        </p:nvSpPr>
        <p:spPr>
          <a:xfrm>
            <a:off x="6750844" y="13894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983" y="1568053"/>
            <a:ext cx="590224" cy="4286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2968" y="2256532"/>
            <a:ext cx="8402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Seguro Auto Mensal</a:t>
            </a:r>
            <a:endParaRPr lang="en-US" sz="584" dirty="0"/>
          </a:p>
        </p:txBody>
      </p:sp>
      <p:sp>
        <p:nvSpPr>
          <p:cNvPr id="21" name="Text 14"/>
          <p:cNvSpPr/>
          <p:nvPr/>
        </p:nvSpPr>
        <p:spPr>
          <a:xfrm>
            <a:off x="6858000" y="25967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https://www.potereseguroauto.com.br/</a:t>
            </a:r>
            <a:endParaRPr lang="en-US" sz="568" dirty="0"/>
          </a:p>
        </p:txBody>
      </p:sp>
      <p:sp>
        <p:nvSpPr>
          <p:cNvPr id="22" name="Shape 15"/>
          <p:cNvSpPr/>
          <p:nvPr/>
        </p:nvSpPr>
        <p:spPr>
          <a:xfrm>
            <a:off x="428625" y="31039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578" y="3282553"/>
            <a:ext cx="428625" cy="4286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04447" y="3971032"/>
            <a:ext cx="4128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Consórcio</a:t>
            </a:r>
            <a:endParaRPr lang="en-US" sz="584" dirty="0"/>
          </a:p>
        </p:txBody>
      </p:sp>
      <p:sp>
        <p:nvSpPr>
          <p:cNvPr id="25" name="Text 17"/>
          <p:cNvSpPr/>
          <p:nvPr/>
        </p:nvSpPr>
        <p:spPr>
          <a:xfrm>
            <a:off x="535781" y="43112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https://www.potereconsorcio.com.br/</a:t>
            </a:r>
            <a:endParaRPr lang="en-US" sz="568" dirty="0"/>
          </a:p>
        </p:txBody>
      </p:sp>
      <p:sp>
        <p:nvSpPr>
          <p:cNvPr id="26" name="Shape 18"/>
          <p:cNvSpPr/>
          <p:nvPr/>
        </p:nvSpPr>
        <p:spPr>
          <a:xfrm>
            <a:off x="2536031" y="31039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465" y="3282553"/>
            <a:ext cx="789663" cy="4286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998366" y="3971032"/>
            <a:ext cx="10398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Mutualismo &amp; Benefícios</a:t>
            </a:r>
            <a:endParaRPr lang="en-US" sz="584" dirty="0"/>
          </a:p>
        </p:txBody>
      </p:sp>
      <p:sp>
        <p:nvSpPr>
          <p:cNvPr id="29" name="Text 20"/>
          <p:cNvSpPr/>
          <p:nvPr/>
        </p:nvSpPr>
        <p:spPr>
          <a:xfrm>
            <a:off x="2643188" y="43112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https://www.movimentomaisbrasil.org.br/</a:t>
            </a:r>
            <a:endParaRPr lang="en-US" sz="568" dirty="0"/>
          </a:p>
        </p:txBody>
      </p:sp>
      <p:sp>
        <p:nvSpPr>
          <p:cNvPr id="30" name="Shape 21"/>
          <p:cNvSpPr/>
          <p:nvPr/>
        </p:nvSpPr>
        <p:spPr>
          <a:xfrm>
            <a:off x="4643438" y="31039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6611" y="3282553"/>
            <a:ext cx="478185" cy="4286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45928" y="3971032"/>
            <a:ext cx="9595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Benefícios e Descontos</a:t>
            </a:r>
            <a:endParaRPr lang="en-US" sz="584" dirty="0"/>
          </a:p>
        </p:txBody>
      </p:sp>
      <p:sp>
        <p:nvSpPr>
          <p:cNvPr id="33" name="Text 23"/>
          <p:cNvSpPr/>
          <p:nvPr/>
        </p:nvSpPr>
        <p:spPr>
          <a:xfrm>
            <a:off x="4750594" y="43112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https://www.maisbrasilmotorcycle.com.br/</a:t>
            </a:r>
            <a:endParaRPr lang="en-US" sz="568" dirty="0"/>
          </a:p>
        </p:txBody>
      </p:sp>
      <p:sp>
        <p:nvSpPr>
          <p:cNvPr id="34" name="Shape 24"/>
          <p:cNvSpPr/>
          <p:nvPr/>
        </p:nvSpPr>
        <p:spPr>
          <a:xfrm>
            <a:off x="6750844" y="3103959"/>
            <a:ext cx="1964531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3441" y="3282553"/>
            <a:ext cx="1119336" cy="4286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364564" y="3971032"/>
            <a:ext cx="7370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1D3F"/>
                </a:solidFill>
              </a:rPr>
              <a:t>Mídia &amp; Educação</a:t>
            </a:r>
            <a:endParaRPr lang="en-US" sz="584" dirty="0"/>
          </a:p>
        </p:txBody>
      </p:sp>
      <p:sp>
        <p:nvSpPr>
          <p:cNvPr id="37" name="Text 26"/>
          <p:cNvSpPr/>
          <p:nvPr/>
        </p:nvSpPr>
        <p:spPr>
          <a:xfrm>
            <a:off x="6858000" y="4311253"/>
            <a:ext cx="1750219" cy="1857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https://www.juntospodmais.com.br/</a:t>
            </a:r>
            <a:endParaRPr lang="en-US" sz="568" dirty="0"/>
          </a:p>
        </p:txBody>
      </p:sp>
      <p:sp>
        <p:nvSpPr>
          <p:cNvPr id="38" name="Text 27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92001"/>
            <a:ext cx="196400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001D3F"/>
                </a:solidFill>
              </a:rPr>
              <a:t>Funil Integrado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2392626" y="375940"/>
            <a:ext cx="25047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Estratégia de Aquisição, Conversão, LTV e Administração</a:t>
            </a:r>
            <a:endParaRPr lang="en-US" sz="634" dirty="0"/>
          </a:p>
        </p:txBody>
      </p:sp>
      <p:sp>
        <p:nvSpPr>
          <p:cNvPr id="6" name="Shape 3"/>
          <p:cNvSpPr/>
          <p:nvPr/>
        </p:nvSpPr>
        <p:spPr>
          <a:xfrm>
            <a:off x="2607469" y="785813"/>
            <a:ext cx="3929063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607469" y="785813"/>
            <a:ext cx="3929063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2500313" y="1035844"/>
            <a:ext cx="71438" cy="14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6"/>
          <p:cNvSpPr/>
          <p:nvPr/>
        </p:nvSpPr>
        <p:spPr>
          <a:xfrm>
            <a:off x="1607344" y="937617"/>
            <a:ext cx="8572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Topo de Funil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Captação</a:t>
            </a:r>
            <a:endParaRPr lang="en-US" sz="485" dirty="0"/>
          </a:p>
        </p:txBody>
      </p:sp>
      <p:sp>
        <p:nvSpPr>
          <p:cNvPr id="10" name="Text 7"/>
          <p:cNvSpPr/>
          <p:nvPr/>
        </p:nvSpPr>
        <p:spPr>
          <a:xfrm>
            <a:off x="3795954" y="897434"/>
            <a:ext cx="15520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Movimento Mais Seguro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3297957" y="1067098"/>
            <a:ext cx="25480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Agregador de Leads • Conteúdo Educacional • Inteligência de Dados</a:t>
            </a:r>
            <a:endParaRPr lang="en-US" sz="534" dirty="0"/>
          </a:p>
        </p:txBody>
      </p:sp>
      <p:sp>
        <p:nvSpPr>
          <p:cNvPr id="12" name="Shape 9"/>
          <p:cNvSpPr/>
          <p:nvPr/>
        </p:nvSpPr>
        <p:spPr>
          <a:xfrm>
            <a:off x="2964656" y="1500188"/>
            <a:ext cx="3214688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964656" y="1500188"/>
            <a:ext cx="3214688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7500" y="1750219"/>
            <a:ext cx="71438" cy="14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2"/>
          <p:cNvSpPr/>
          <p:nvPr/>
        </p:nvSpPr>
        <p:spPr>
          <a:xfrm>
            <a:off x="1964531" y="1651992"/>
            <a:ext cx="8572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Meio de Funil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Conversão</a:t>
            </a:r>
            <a:endParaRPr lang="en-US" sz="485" dirty="0"/>
          </a:p>
        </p:txBody>
      </p:sp>
      <p:sp>
        <p:nvSpPr>
          <p:cNvPr id="16" name="Text 13"/>
          <p:cNvSpPr/>
          <p:nvPr/>
        </p:nvSpPr>
        <p:spPr>
          <a:xfrm>
            <a:off x="4039623" y="1611809"/>
            <a:ext cx="10647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Alpha Proteções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642531" y="1781473"/>
            <a:ext cx="18589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Hub de Vendas • Canais Digitais • Força Comercial</a:t>
            </a:r>
            <a:endParaRPr lang="en-US" sz="534" dirty="0"/>
          </a:p>
        </p:txBody>
      </p:sp>
      <p:sp>
        <p:nvSpPr>
          <p:cNvPr id="18" name="Shape 15"/>
          <p:cNvSpPr/>
          <p:nvPr/>
        </p:nvSpPr>
        <p:spPr>
          <a:xfrm>
            <a:off x="1451088" y="2708997"/>
            <a:ext cx="71438" cy="14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6"/>
          <p:cNvSpPr/>
          <p:nvPr/>
        </p:nvSpPr>
        <p:spPr>
          <a:xfrm>
            <a:off x="558120" y="2610770"/>
            <a:ext cx="8572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Fundo de Funil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Distribuição</a:t>
            </a:r>
            <a:endParaRPr lang="en-US" sz="485" dirty="0"/>
          </a:p>
        </p:txBody>
      </p:sp>
      <p:sp>
        <p:nvSpPr>
          <p:cNvPr id="20" name="Shape 17"/>
          <p:cNvSpPr/>
          <p:nvPr/>
        </p:nvSpPr>
        <p:spPr>
          <a:xfrm>
            <a:off x="1535906" y="2214563"/>
            <a:ext cx="143768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535906" y="2214563"/>
            <a:ext cx="1437680" cy="214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19"/>
          <p:cNvSpPr/>
          <p:nvPr/>
        </p:nvSpPr>
        <p:spPr>
          <a:xfrm>
            <a:off x="2129730" y="2321719"/>
            <a:ext cx="250031" cy="188472"/>
          </a:xfrm>
          <a:prstGeom prst="roundRect">
            <a:avLst/>
          </a:prstGeom>
          <a:solidFill>
            <a:srgbClr val="EFF6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52" y="2351661"/>
            <a:ext cx="128588" cy="128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764395" y="2567341"/>
            <a:ext cx="980703" cy="16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Soluções Corretora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1929147" y="2786063"/>
            <a:ext cx="6511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Alta Renda</a:t>
            </a:r>
            <a:endParaRPr lang="en-US" sz="516" dirty="0"/>
          </a:p>
        </p:txBody>
      </p:sp>
      <p:sp>
        <p:nvSpPr>
          <p:cNvPr id="26" name="Text 22"/>
          <p:cNvSpPr/>
          <p:nvPr/>
        </p:nvSpPr>
        <p:spPr>
          <a:xfrm>
            <a:off x="1929147" y="2893219"/>
            <a:ext cx="6511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Riscos Complexos</a:t>
            </a:r>
            <a:endParaRPr lang="en-US" sz="516" dirty="0"/>
          </a:p>
        </p:txBody>
      </p:sp>
      <p:sp>
        <p:nvSpPr>
          <p:cNvPr id="27" name="Text 23"/>
          <p:cNvSpPr/>
          <p:nvPr/>
        </p:nvSpPr>
        <p:spPr>
          <a:xfrm>
            <a:off x="1929147" y="3000375"/>
            <a:ext cx="65117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Consultoria Técnica</a:t>
            </a:r>
            <a:endParaRPr lang="en-US" sz="516" dirty="0"/>
          </a:p>
        </p:txBody>
      </p:sp>
      <p:sp>
        <p:nvSpPr>
          <p:cNvPr id="28" name="Shape 24"/>
          <p:cNvSpPr/>
          <p:nvPr/>
        </p:nvSpPr>
        <p:spPr>
          <a:xfrm>
            <a:off x="3080742" y="2214563"/>
            <a:ext cx="143768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3080742" y="2214563"/>
            <a:ext cx="1437680" cy="21431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0" name="Shape 26"/>
          <p:cNvSpPr/>
          <p:nvPr/>
        </p:nvSpPr>
        <p:spPr>
          <a:xfrm>
            <a:off x="3674566" y="2321719"/>
            <a:ext cx="250031" cy="188472"/>
          </a:xfrm>
          <a:prstGeom prst="roundRect">
            <a:avLst/>
          </a:prstGeom>
          <a:solidFill>
            <a:srgbClr val="EEF2FF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288" y="2351661"/>
            <a:ext cx="128588" cy="128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322904" y="2567341"/>
            <a:ext cx="953356" cy="16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Potere Seguro Auto</a:t>
            </a:r>
            <a:endParaRPr lang="en-US" sz="584" dirty="0"/>
          </a:p>
        </p:txBody>
      </p:sp>
      <p:sp>
        <p:nvSpPr>
          <p:cNvPr id="33" name="Text 28"/>
          <p:cNvSpPr/>
          <p:nvPr/>
        </p:nvSpPr>
        <p:spPr>
          <a:xfrm>
            <a:off x="3491898" y="2786063"/>
            <a:ext cx="6153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Massificado</a:t>
            </a:r>
            <a:endParaRPr lang="en-US" sz="516" dirty="0"/>
          </a:p>
        </p:txBody>
      </p:sp>
      <p:sp>
        <p:nvSpPr>
          <p:cNvPr id="34" name="Text 29"/>
          <p:cNvSpPr/>
          <p:nvPr/>
        </p:nvSpPr>
        <p:spPr>
          <a:xfrm>
            <a:off x="3491898" y="2893219"/>
            <a:ext cx="6153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Assinatura Mensal</a:t>
            </a:r>
            <a:endParaRPr lang="en-US" sz="516" dirty="0"/>
          </a:p>
        </p:txBody>
      </p:sp>
      <p:sp>
        <p:nvSpPr>
          <p:cNvPr id="35" name="Text 30"/>
          <p:cNvSpPr/>
          <p:nvPr/>
        </p:nvSpPr>
        <p:spPr>
          <a:xfrm>
            <a:off x="3491898" y="3000375"/>
            <a:ext cx="6153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Flexibilidade</a:t>
            </a:r>
            <a:endParaRPr lang="en-US" sz="516" dirty="0"/>
          </a:p>
        </p:txBody>
      </p:sp>
      <p:sp>
        <p:nvSpPr>
          <p:cNvPr id="36" name="Shape 31"/>
          <p:cNvSpPr/>
          <p:nvPr/>
        </p:nvSpPr>
        <p:spPr>
          <a:xfrm>
            <a:off x="4625578" y="2214563"/>
            <a:ext cx="143768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4625578" y="2214563"/>
            <a:ext cx="1437680" cy="21431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Shape 33"/>
          <p:cNvSpPr/>
          <p:nvPr/>
        </p:nvSpPr>
        <p:spPr>
          <a:xfrm>
            <a:off x="5219402" y="2321719"/>
            <a:ext cx="250031" cy="188472"/>
          </a:xfrm>
          <a:prstGeom prst="roundRect">
            <a:avLst/>
          </a:prstGeom>
          <a:solidFill>
            <a:srgbClr val="FFF7ED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051" y="2351661"/>
            <a:ext cx="160734" cy="12858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784666" y="2567341"/>
            <a:ext cx="1119504" cy="16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Movimento Mais Brasil</a:t>
            </a:r>
            <a:endParaRPr lang="en-US" sz="584" dirty="0"/>
          </a:p>
        </p:txBody>
      </p:sp>
      <p:sp>
        <p:nvSpPr>
          <p:cNvPr id="41" name="Text 35"/>
          <p:cNvSpPr/>
          <p:nvPr/>
        </p:nvSpPr>
        <p:spPr>
          <a:xfrm>
            <a:off x="5125166" y="2786063"/>
            <a:ext cx="4385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Classe Média</a:t>
            </a:r>
            <a:endParaRPr lang="en-US" sz="516" dirty="0"/>
          </a:p>
        </p:txBody>
      </p:sp>
      <p:sp>
        <p:nvSpPr>
          <p:cNvPr id="42" name="Text 36"/>
          <p:cNvSpPr/>
          <p:nvPr/>
        </p:nvSpPr>
        <p:spPr>
          <a:xfrm>
            <a:off x="5125166" y="2893219"/>
            <a:ext cx="4385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Mutualismo</a:t>
            </a:r>
            <a:endParaRPr lang="en-US" sz="516" dirty="0"/>
          </a:p>
        </p:txBody>
      </p:sp>
      <p:sp>
        <p:nvSpPr>
          <p:cNvPr id="43" name="Text 37"/>
          <p:cNvSpPr/>
          <p:nvPr/>
        </p:nvSpPr>
        <p:spPr>
          <a:xfrm>
            <a:off x="5125166" y="3000375"/>
            <a:ext cx="43850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Benefícios</a:t>
            </a:r>
            <a:endParaRPr lang="en-US" sz="516" dirty="0"/>
          </a:p>
        </p:txBody>
      </p:sp>
      <p:sp>
        <p:nvSpPr>
          <p:cNvPr id="44" name="Shape 38"/>
          <p:cNvSpPr/>
          <p:nvPr/>
        </p:nvSpPr>
        <p:spPr>
          <a:xfrm>
            <a:off x="6170414" y="2214563"/>
            <a:ext cx="143768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6170414" y="2214563"/>
            <a:ext cx="1437680" cy="214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Shape 40"/>
          <p:cNvSpPr/>
          <p:nvPr/>
        </p:nvSpPr>
        <p:spPr>
          <a:xfrm>
            <a:off x="6764238" y="2321719"/>
            <a:ext cx="250031" cy="188472"/>
          </a:xfrm>
          <a:prstGeom prst="roundRect">
            <a:avLst/>
          </a:prstGeom>
          <a:solidFill>
            <a:srgbClr val="F5F3FF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923" y="2351661"/>
            <a:ext cx="144661" cy="1285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457699" y="2567341"/>
            <a:ext cx="863082" cy="16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Potere Consórcio</a:t>
            </a:r>
            <a:endParaRPr lang="en-US" sz="584" dirty="0"/>
          </a:p>
        </p:txBody>
      </p:sp>
      <p:sp>
        <p:nvSpPr>
          <p:cNvPr id="49" name="Text 42"/>
          <p:cNvSpPr/>
          <p:nvPr/>
        </p:nvSpPr>
        <p:spPr>
          <a:xfrm>
            <a:off x="6656775" y="2786063"/>
            <a:ext cx="4649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Planejamento</a:t>
            </a:r>
            <a:endParaRPr lang="en-US" sz="516" dirty="0"/>
          </a:p>
        </p:txBody>
      </p:sp>
      <p:sp>
        <p:nvSpPr>
          <p:cNvPr id="50" name="Text 43"/>
          <p:cNvSpPr/>
          <p:nvPr/>
        </p:nvSpPr>
        <p:spPr>
          <a:xfrm>
            <a:off x="6656775" y="2893219"/>
            <a:ext cx="4649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Financeiro</a:t>
            </a:r>
            <a:endParaRPr lang="en-US" sz="516" dirty="0"/>
          </a:p>
        </p:txBody>
      </p:sp>
      <p:sp>
        <p:nvSpPr>
          <p:cNvPr id="51" name="Text 44"/>
          <p:cNvSpPr/>
          <p:nvPr/>
        </p:nvSpPr>
        <p:spPr>
          <a:xfrm>
            <a:off x="6656775" y="3000375"/>
            <a:ext cx="4649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Longo Prazo</a:t>
            </a:r>
            <a:endParaRPr lang="en-US" sz="516" dirty="0"/>
          </a:p>
        </p:txBody>
      </p:sp>
      <p:sp>
        <p:nvSpPr>
          <p:cNvPr id="52" name="Shape 45"/>
          <p:cNvSpPr/>
          <p:nvPr/>
        </p:nvSpPr>
        <p:spPr>
          <a:xfrm>
            <a:off x="2786063" y="3429000"/>
            <a:ext cx="3571875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6"/>
          <p:cNvSpPr/>
          <p:nvPr/>
        </p:nvSpPr>
        <p:spPr>
          <a:xfrm>
            <a:off x="2786063" y="3429000"/>
            <a:ext cx="3571875" cy="285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54" name="Shape 47"/>
          <p:cNvSpPr/>
          <p:nvPr/>
        </p:nvSpPr>
        <p:spPr>
          <a:xfrm>
            <a:off x="2678906" y="3750469"/>
            <a:ext cx="71438" cy="14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5" name="Text 48"/>
          <p:cNvSpPr/>
          <p:nvPr/>
        </p:nvSpPr>
        <p:spPr>
          <a:xfrm>
            <a:off x="1785938" y="3652242"/>
            <a:ext cx="8572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Pós-Venda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Administração</a:t>
            </a:r>
            <a:endParaRPr lang="en-US" sz="485" dirty="0"/>
          </a:p>
        </p:txBody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115" y="3607594"/>
            <a:ext cx="918028" cy="28575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4197037" y="3614738"/>
            <a:ext cx="19608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1D3F"/>
                </a:solidFill>
              </a:rPr>
              <a:t>Administração Centralizada</a:t>
            </a:r>
            <a:endParaRPr lang="en-US" sz="683" dirty="0"/>
          </a:p>
        </p:txBody>
      </p:sp>
      <p:sp>
        <p:nvSpPr>
          <p:cNvPr id="58" name="Text 50"/>
          <p:cNvSpPr/>
          <p:nvPr/>
        </p:nvSpPr>
        <p:spPr>
          <a:xfrm>
            <a:off x="4197037" y="3779044"/>
            <a:ext cx="19608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Gestão de Contratos • Relacionamento • Compliance</a:t>
            </a:r>
            <a:endParaRPr lang="en-US" sz="534" dirty="0"/>
          </a:p>
        </p:txBody>
      </p:sp>
      <p:sp>
        <p:nvSpPr>
          <p:cNvPr id="59" name="Shape 51"/>
          <p:cNvSpPr/>
          <p:nvPr/>
        </p:nvSpPr>
        <p:spPr>
          <a:xfrm>
            <a:off x="6271955" y="1392458"/>
            <a:ext cx="1143000" cy="6903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2"/>
          <p:cNvSpPr/>
          <p:nvPr/>
        </p:nvSpPr>
        <p:spPr>
          <a:xfrm>
            <a:off x="6271955" y="1392458"/>
            <a:ext cx="28575" cy="6903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680" y="1493364"/>
            <a:ext cx="64294" cy="85725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6464836" y="1478183"/>
            <a:ext cx="5831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JUNTOS POD+</a:t>
            </a:r>
            <a:endParaRPr lang="en-US" sz="584" dirty="0"/>
          </a:p>
        </p:txBody>
      </p:sp>
      <p:sp>
        <p:nvSpPr>
          <p:cNvPr id="63" name="Text 54"/>
          <p:cNvSpPr/>
          <p:nvPr/>
        </p:nvSpPr>
        <p:spPr>
          <a:xfrm>
            <a:off x="6357680" y="1637132"/>
            <a:ext cx="9715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63" dirty="0">
                <a:solidFill>
                  <a:srgbClr val="64748B"/>
                </a:solidFill>
              </a:rPr>
              <a:t>Atuação transversal fortalecendo Brand Equity e gerando leads indiretos em todas as etapas.</a:t>
            </a:r>
            <a:endParaRPr lang="en-US" sz="463" dirty="0"/>
          </a:p>
        </p:txBody>
      </p:sp>
      <p:sp>
        <p:nvSpPr>
          <p:cNvPr id="64" name="Text 55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60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572242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Posicionamento Regulatório e Compliance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00125"/>
            <a:ext cx="7143750" cy="6429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 GRUPO MMB estrutura suas operações com clara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segregação funcional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entre produtos regulados 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mutualistas, antecipando exigências legais e garantindo segurança jurídica através de estruturas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patrimoniais distintas.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1857375"/>
            <a:ext cx="4000500" cy="2262783"/>
          </a:xfrm>
          <a:prstGeom prst="rect">
            <a:avLst/>
          </a:prstGeom>
          <a:solidFill>
            <a:srgbClr val="F9FAFB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150269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844" y="2071688"/>
            <a:ext cx="1461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D3F"/>
                </a:solidFill>
              </a:rPr>
              <a:t>Mercado Regulado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035844" y="2321719"/>
            <a:ext cx="14616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Normas SUSEP</a:t>
            </a:r>
            <a:endParaRPr lang="en-US" sz="72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821781"/>
            <a:ext cx="85725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793206"/>
            <a:ext cx="28501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Entidades: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Soluções Corretora e Potere Seguro Auto.</a:t>
            </a:r>
            <a:endParaRPr lang="en-US" sz="78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84314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" y="3055739"/>
            <a:ext cx="34075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Compliance: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Aderência integral às circulares e resoluções da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SUSEP.</a:t>
            </a:r>
            <a:endParaRPr lang="en-US" sz="78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502223"/>
            <a:ext cx="85725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0100" y="3473648"/>
            <a:ext cx="34075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Estrutura: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Intermediação de apólices de seguradoras de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primeira linha.</a:t>
            </a:r>
            <a:endParaRPr lang="en-US" sz="784" dirty="0"/>
          </a:p>
        </p:txBody>
      </p:sp>
      <p:sp>
        <p:nvSpPr>
          <p:cNvPr id="16" name="Shape 9"/>
          <p:cNvSpPr/>
          <p:nvPr/>
        </p:nvSpPr>
        <p:spPr>
          <a:xfrm>
            <a:off x="4707731" y="1857375"/>
            <a:ext cx="4007644" cy="2262783"/>
          </a:xfrm>
          <a:prstGeom prst="rect">
            <a:avLst/>
          </a:prstGeom>
          <a:solidFill>
            <a:srgbClr val="F9FAFB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150269"/>
            <a:ext cx="28575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22094" y="2071688"/>
            <a:ext cx="16057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D3F"/>
                </a:solidFill>
              </a:rPr>
              <a:t>Mercado Mutualista</a:t>
            </a:r>
            <a:endParaRPr lang="en-US" sz="1090" dirty="0"/>
          </a:p>
        </p:txBody>
      </p:sp>
      <p:sp>
        <p:nvSpPr>
          <p:cNvPr id="19" name="Text 11"/>
          <p:cNvSpPr/>
          <p:nvPr/>
        </p:nvSpPr>
        <p:spPr>
          <a:xfrm>
            <a:off x="5322094" y="2321719"/>
            <a:ext cx="16057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Lei Complementar 213/2025</a:t>
            </a:r>
            <a:endParaRPr lang="en-US" sz="72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821781"/>
            <a:ext cx="85725" cy="857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86350" y="2793206"/>
            <a:ext cx="18168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Entidade: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Movimento Mais Brasil.</a:t>
            </a:r>
            <a:endParaRPr lang="en-US" sz="784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3084314"/>
            <a:ext cx="85725" cy="8572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86350" y="3055739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Compliance: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Adequação antecipada ao novo marco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regulatório (LC 213/2025).</a:t>
            </a:r>
            <a:endParaRPr lang="en-US" sz="784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502223"/>
            <a:ext cx="85725" cy="857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86350" y="3473648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Estrutura: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 Separação patrimonial entre associação e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administradora, com rateio transparente.</a:t>
            </a:r>
            <a:endParaRPr lang="en-US" sz="784" dirty="0"/>
          </a:p>
        </p:txBody>
      </p:sp>
      <p:sp>
        <p:nvSpPr>
          <p:cNvPr id="26" name="Shape 15"/>
          <p:cNvSpPr/>
          <p:nvPr/>
        </p:nvSpPr>
        <p:spPr>
          <a:xfrm>
            <a:off x="428625" y="4320183"/>
            <a:ext cx="8286750" cy="635794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27" name="Text 16"/>
          <p:cNvSpPr/>
          <p:nvPr/>
        </p:nvSpPr>
        <p:spPr>
          <a:xfrm>
            <a:off x="642938" y="4463058"/>
            <a:ext cx="17859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</a:rPr>
              <a:t>Governança Transversal</a:t>
            </a:r>
            <a:endParaRPr lang="en-US" sz="88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0731" y="4588073"/>
            <a:ext cx="100013" cy="10001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052181" y="4570214"/>
            <a:ext cx="10039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Rastreabilidade Total</a:t>
            </a:r>
            <a:endParaRPr lang="en-US" sz="683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1879" y="4588073"/>
            <a:ext cx="112514" cy="100013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525830" y="4570214"/>
            <a:ext cx="10901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Auditoria de Processos</a:t>
            </a:r>
            <a:endParaRPr lang="en-US" sz="683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1728" y="4588073"/>
            <a:ext cx="100013" cy="100013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073178" y="4570214"/>
            <a:ext cx="14278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Gestão de Riscos Centralizada</a:t>
            </a:r>
            <a:endParaRPr lang="en-US" sz="683" dirty="0"/>
          </a:p>
        </p:txBody>
      </p:sp>
      <p:sp>
        <p:nvSpPr>
          <p:cNvPr id="34" name="Text 20"/>
          <p:cNvSpPr/>
          <p:nvPr/>
        </p:nvSpPr>
        <p:spPr>
          <a:xfrm>
            <a:off x="7020074" y="4911328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79619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Modelo Econômico e Escalabilidade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928688"/>
            <a:ext cx="82867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D3F"/>
                </a:solidFill>
              </a:rPr>
              <a:t>Matriz de Receitas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428625" y="1248370"/>
            <a:ext cx="2666991" cy="14501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248370"/>
            <a:ext cx="2666991" cy="28575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37874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4388" y="1376958"/>
            <a:ext cx="13797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Receita Recorrente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557213" y="1637705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664369" y="1637705"/>
            <a:ext cx="7656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Mensalidades:</a:t>
            </a:r>
            <a:endParaRPr lang="en-US" sz="734" dirty="0"/>
          </a:p>
        </p:txBody>
      </p:sp>
      <p:sp>
        <p:nvSpPr>
          <p:cNvPr id="12" name="Text 8"/>
          <p:cNvSpPr/>
          <p:nvPr/>
        </p:nvSpPr>
        <p:spPr>
          <a:xfrm>
            <a:off x="664369" y="1637705"/>
            <a:ext cx="182832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Seguro Auto, Moto e Associação MMB.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557213" y="1987748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664369" y="1987748"/>
            <a:ext cx="12954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Taxas de Administração:</a:t>
            </a:r>
            <a:endParaRPr lang="en-US" sz="734" dirty="0"/>
          </a:p>
        </p:txBody>
      </p:sp>
      <p:sp>
        <p:nvSpPr>
          <p:cNvPr id="15" name="Text 11"/>
          <p:cNvSpPr/>
          <p:nvPr/>
        </p:nvSpPr>
        <p:spPr>
          <a:xfrm>
            <a:off x="1959787" y="1987748"/>
            <a:ext cx="9167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Potere Consórcio.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557213" y="2191345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17" name="Text 13"/>
          <p:cNvSpPr/>
          <p:nvPr/>
        </p:nvSpPr>
        <p:spPr>
          <a:xfrm>
            <a:off x="664369" y="2191345"/>
            <a:ext cx="8147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Previsibilidade:</a:t>
            </a:r>
            <a:endParaRPr lang="en-US" sz="734" dirty="0"/>
          </a:p>
        </p:txBody>
      </p:sp>
      <p:sp>
        <p:nvSpPr>
          <p:cNvPr id="18" name="Text 14"/>
          <p:cNvSpPr/>
          <p:nvPr/>
        </p:nvSpPr>
        <p:spPr>
          <a:xfrm>
            <a:off x="664369" y="2191345"/>
            <a:ext cx="2284381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Fluxo de caixa estável e base acumulativa.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3238491" y="1248370"/>
            <a:ext cx="2666991" cy="14501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6"/>
          <p:cNvSpPr/>
          <p:nvPr/>
        </p:nvSpPr>
        <p:spPr>
          <a:xfrm>
            <a:off x="3238491" y="1248370"/>
            <a:ext cx="2666991" cy="28575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78" y="1378744"/>
            <a:ext cx="192881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45684" y="1376958"/>
            <a:ext cx="15582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Receita Transacional</a:t>
            </a:r>
            <a:endParaRPr lang="en-US" sz="885" dirty="0"/>
          </a:p>
        </p:txBody>
      </p:sp>
      <p:sp>
        <p:nvSpPr>
          <p:cNvPr id="23" name="Text 18"/>
          <p:cNvSpPr/>
          <p:nvPr/>
        </p:nvSpPr>
        <p:spPr>
          <a:xfrm>
            <a:off x="3367078" y="1637705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24" name="Text 19"/>
          <p:cNvSpPr/>
          <p:nvPr/>
        </p:nvSpPr>
        <p:spPr>
          <a:xfrm>
            <a:off x="3474234" y="1637705"/>
            <a:ext cx="11131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Comissões de Venda:</a:t>
            </a:r>
            <a:endParaRPr lang="en-US" sz="734" dirty="0"/>
          </a:p>
        </p:txBody>
      </p:sp>
      <p:sp>
        <p:nvSpPr>
          <p:cNvPr id="25" name="Text 20"/>
          <p:cNvSpPr/>
          <p:nvPr/>
        </p:nvSpPr>
        <p:spPr>
          <a:xfrm>
            <a:off x="3474234" y="1637705"/>
            <a:ext cx="195616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Alpha Proteções (Agenciamento).</a:t>
            </a:r>
            <a:endParaRPr lang="en-US" sz="780" dirty="0"/>
          </a:p>
        </p:txBody>
      </p:sp>
      <p:sp>
        <p:nvSpPr>
          <p:cNvPr id="26" name="Text 21"/>
          <p:cNvSpPr/>
          <p:nvPr/>
        </p:nvSpPr>
        <p:spPr>
          <a:xfrm>
            <a:off x="3367078" y="1987748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27" name="Text 22"/>
          <p:cNvSpPr/>
          <p:nvPr/>
        </p:nvSpPr>
        <p:spPr>
          <a:xfrm>
            <a:off x="3474234" y="1987748"/>
            <a:ext cx="6712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Corretagem:</a:t>
            </a:r>
            <a:endParaRPr lang="en-US" sz="734" dirty="0"/>
          </a:p>
        </p:txBody>
      </p:sp>
      <p:sp>
        <p:nvSpPr>
          <p:cNvPr id="28" name="Text 23"/>
          <p:cNvSpPr/>
          <p:nvPr/>
        </p:nvSpPr>
        <p:spPr>
          <a:xfrm>
            <a:off x="4145468" y="1987748"/>
            <a:ext cx="15249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Soluções Corretora (Apólices).</a:t>
            </a:r>
            <a:endParaRPr lang="en-US" sz="780" dirty="0"/>
          </a:p>
        </p:txBody>
      </p:sp>
      <p:sp>
        <p:nvSpPr>
          <p:cNvPr id="29" name="Text 24"/>
          <p:cNvSpPr/>
          <p:nvPr/>
        </p:nvSpPr>
        <p:spPr>
          <a:xfrm>
            <a:off x="3367078" y="2191345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30" name="Text 25"/>
          <p:cNvSpPr/>
          <p:nvPr/>
        </p:nvSpPr>
        <p:spPr>
          <a:xfrm>
            <a:off x="3474234" y="2191345"/>
            <a:ext cx="4360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Volume:</a:t>
            </a:r>
            <a:endParaRPr lang="en-US" sz="734" dirty="0"/>
          </a:p>
        </p:txBody>
      </p:sp>
      <p:sp>
        <p:nvSpPr>
          <p:cNvPr id="31" name="Text 26"/>
          <p:cNvSpPr/>
          <p:nvPr/>
        </p:nvSpPr>
        <p:spPr>
          <a:xfrm>
            <a:off x="3474234" y="2191345"/>
            <a:ext cx="1946504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Geração de caixa imediato na conversão.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6048356" y="1248370"/>
            <a:ext cx="2667019" cy="14501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28"/>
          <p:cNvSpPr/>
          <p:nvPr/>
        </p:nvSpPr>
        <p:spPr>
          <a:xfrm>
            <a:off x="6048356" y="1248370"/>
            <a:ext cx="2667019" cy="28575"/>
          </a:xfrm>
          <a:prstGeom prst="rect">
            <a:avLst/>
          </a:prstGeom>
          <a:solidFill>
            <a:srgbClr val="78909C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44" y="1378744"/>
            <a:ext cx="171450" cy="17145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34119" y="1376958"/>
            <a:ext cx="12931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Ganhos Indiretos</a:t>
            </a:r>
            <a:endParaRPr lang="en-US" sz="885" dirty="0"/>
          </a:p>
        </p:txBody>
      </p:sp>
      <p:sp>
        <p:nvSpPr>
          <p:cNvPr id="36" name="Text 30"/>
          <p:cNvSpPr/>
          <p:nvPr/>
        </p:nvSpPr>
        <p:spPr>
          <a:xfrm>
            <a:off x="6176944" y="1637705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37" name="Text 31"/>
          <p:cNvSpPr/>
          <p:nvPr/>
        </p:nvSpPr>
        <p:spPr>
          <a:xfrm>
            <a:off x="6284100" y="1637705"/>
            <a:ext cx="5386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Eficiência:</a:t>
            </a:r>
            <a:endParaRPr lang="en-US" sz="734" dirty="0"/>
          </a:p>
        </p:txBody>
      </p:sp>
      <p:sp>
        <p:nvSpPr>
          <p:cNvPr id="38" name="Text 32"/>
          <p:cNvSpPr/>
          <p:nvPr/>
        </p:nvSpPr>
        <p:spPr>
          <a:xfrm>
            <a:off x="6284100" y="1637705"/>
            <a:ext cx="1812894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Redução do CAC via funil proprietário.</a:t>
            </a:r>
            <a:endParaRPr lang="en-US" sz="780" dirty="0"/>
          </a:p>
        </p:txBody>
      </p:sp>
      <p:sp>
        <p:nvSpPr>
          <p:cNvPr id="39" name="Text 33"/>
          <p:cNvSpPr/>
          <p:nvPr/>
        </p:nvSpPr>
        <p:spPr>
          <a:xfrm>
            <a:off x="6176944" y="1987748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40" name="Text 34"/>
          <p:cNvSpPr/>
          <p:nvPr/>
        </p:nvSpPr>
        <p:spPr>
          <a:xfrm>
            <a:off x="6284100" y="1987748"/>
            <a:ext cx="5915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Financeiro:</a:t>
            </a:r>
            <a:endParaRPr lang="en-US" sz="734" dirty="0"/>
          </a:p>
        </p:txBody>
      </p:sp>
      <p:sp>
        <p:nvSpPr>
          <p:cNvPr id="41" name="Text 35"/>
          <p:cNvSpPr/>
          <p:nvPr/>
        </p:nvSpPr>
        <p:spPr>
          <a:xfrm>
            <a:off x="6284100" y="1987748"/>
            <a:ext cx="1638542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Float sobre recursos administrados.</a:t>
            </a:r>
            <a:endParaRPr lang="en-US" sz="780" dirty="0"/>
          </a:p>
        </p:txBody>
      </p:sp>
      <p:sp>
        <p:nvSpPr>
          <p:cNvPr id="42" name="Text 36"/>
          <p:cNvSpPr/>
          <p:nvPr/>
        </p:nvSpPr>
        <p:spPr>
          <a:xfrm>
            <a:off x="6176944" y="2337792"/>
            <a:ext cx="402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74A78"/>
                </a:solidFill>
              </a:rPr>
              <a:t>•</a:t>
            </a:r>
            <a:endParaRPr lang="en-US" sz="734" dirty="0"/>
          </a:p>
        </p:txBody>
      </p:sp>
      <p:sp>
        <p:nvSpPr>
          <p:cNvPr id="43" name="Text 37"/>
          <p:cNvSpPr/>
          <p:nvPr/>
        </p:nvSpPr>
        <p:spPr>
          <a:xfrm>
            <a:off x="6284100" y="2337792"/>
            <a:ext cx="4688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Sinergia:</a:t>
            </a:r>
            <a:endParaRPr lang="en-US" sz="734" dirty="0"/>
          </a:p>
        </p:txBody>
      </p:sp>
      <p:sp>
        <p:nvSpPr>
          <p:cNvPr id="44" name="Text 38"/>
          <p:cNvSpPr/>
          <p:nvPr/>
        </p:nvSpPr>
        <p:spPr>
          <a:xfrm>
            <a:off x="6752909" y="2337792"/>
            <a:ext cx="148263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Cross-selling entre unidades.</a:t>
            </a:r>
            <a:endParaRPr lang="en-US" sz="780" dirty="0"/>
          </a:p>
        </p:txBody>
      </p:sp>
      <p:sp>
        <p:nvSpPr>
          <p:cNvPr id="45" name="Text 39"/>
          <p:cNvSpPr/>
          <p:nvPr/>
        </p:nvSpPr>
        <p:spPr>
          <a:xfrm>
            <a:off x="428625" y="2812852"/>
            <a:ext cx="8286750" cy="23395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1D3F"/>
                </a:solidFill>
              </a:rPr>
              <a:t>Motor de Escalabilidade</a:t>
            </a:r>
            <a:endParaRPr lang="en-US" sz="1193" dirty="0"/>
          </a:p>
        </p:txBody>
      </p:sp>
      <p:sp>
        <p:nvSpPr>
          <p:cNvPr id="46" name="Shape 40"/>
          <p:cNvSpPr/>
          <p:nvPr/>
        </p:nvSpPr>
        <p:spPr>
          <a:xfrm>
            <a:off x="428625" y="3132534"/>
            <a:ext cx="8286750" cy="1239775"/>
          </a:xfrm>
          <a:prstGeom prst="rect">
            <a:avLst/>
          </a:prstGeom>
          <a:solidFill>
            <a:srgbClr val="F0F4F8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000125" y="3275409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1D3F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144" y="3403997"/>
            <a:ext cx="128588" cy="17145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55327" y="3789759"/>
            <a:ext cx="111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1D3F"/>
                </a:solidFill>
              </a:rPr>
              <a:t>Hub Administrativo</a:t>
            </a:r>
            <a:endParaRPr lang="en-US" sz="784" dirty="0"/>
          </a:p>
        </p:txBody>
      </p:sp>
      <p:sp>
        <p:nvSpPr>
          <p:cNvPr id="50" name="Text 43"/>
          <p:cNvSpPr/>
          <p:nvPr/>
        </p:nvSpPr>
        <p:spPr>
          <a:xfrm>
            <a:off x="571500" y="3973711"/>
            <a:ext cx="128587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Centraliza Finanças, RH, Jurídico e Tech</a:t>
            </a:r>
            <a:endParaRPr lang="en-US" sz="674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794" y="3660446"/>
            <a:ext cx="150019" cy="17145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3190884" y="3275409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1D3F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472" y="3403997"/>
            <a:ext cx="171450" cy="17145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2883173" y="3789759"/>
            <a:ext cx="10440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1D3F"/>
                </a:solidFill>
              </a:rPr>
              <a:t>Diluição de Custos</a:t>
            </a:r>
            <a:endParaRPr lang="en-US" sz="784" dirty="0"/>
          </a:p>
        </p:txBody>
      </p:sp>
      <p:sp>
        <p:nvSpPr>
          <p:cNvPr id="55" name="Text 46"/>
          <p:cNvSpPr/>
          <p:nvPr/>
        </p:nvSpPr>
        <p:spPr>
          <a:xfrm>
            <a:off x="2762259" y="3973711"/>
            <a:ext cx="128587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Rateio de despesas fixas entre múltiplas unidades</a:t>
            </a:r>
            <a:endParaRPr lang="en-US" sz="674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553" y="3660446"/>
            <a:ext cx="150019" cy="171450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5381644" y="3275409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1D3F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1662" y="3403997"/>
            <a:ext cx="128588" cy="17145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161666" y="3789759"/>
            <a:ext cx="8685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1D3F"/>
                </a:solidFill>
              </a:rPr>
              <a:t>Custo Marginal</a:t>
            </a:r>
            <a:endParaRPr lang="en-US" sz="784" dirty="0"/>
          </a:p>
        </p:txBody>
      </p:sp>
      <p:sp>
        <p:nvSpPr>
          <p:cNvPr id="60" name="Text 49"/>
          <p:cNvSpPr/>
          <p:nvPr/>
        </p:nvSpPr>
        <p:spPr>
          <a:xfrm>
            <a:off x="4953019" y="3973711"/>
            <a:ext cx="128587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Redução do custo unitário com o aumento da escala</a:t>
            </a:r>
            <a:endParaRPr lang="en-US" sz="674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6312" y="3660446"/>
            <a:ext cx="150019" cy="171450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7143778" y="3316653"/>
            <a:ext cx="1428750" cy="857250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63" name="Text 51"/>
          <p:cNvSpPr/>
          <p:nvPr/>
        </p:nvSpPr>
        <p:spPr>
          <a:xfrm>
            <a:off x="7258078" y="3405950"/>
            <a:ext cx="12001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Expansão de Margem</a:t>
            </a:r>
            <a:endParaRPr lang="en-US" sz="885" dirty="0"/>
          </a:p>
        </p:txBody>
      </p:sp>
      <p:sp>
        <p:nvSpPr>
          <p:cNvPr id="64" name="Text 52"/>
          <p:cNvSpPr/>
          <p:nvPr/>
        </p:nvSpPr>
        <p:spPr>
          <a:xfrm>
            <a:off x="7258078" y="3813144"/>
            <a:ext cx="12001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D9DDE2"/>
                </a:solidFill>
              </a:rPr>
              <a:t>Crescimento de receita &gt; Crescimento de despesa</a:t>
            </a:r>
            <a:endParaRPr lang="en-US" sz="727" dirty="0"/>
          </a:p>
        </p:txBody>
      </p:sp>
      <p:sp>
        <p:nvSpPr>
          <p:cNvPr id="65" name="Text 53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53701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Indicadores e Estratégia de Crescimento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00125"/>
            <a:ext cx="82867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D3F"/>
                </a:solidFill>
              </a:rPr>
              <a:t>Indicadores de Desempenho Consolidados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1357313"/>
            <a:ext cx="2619356" cy="1512689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0726"/>
            <a:ext cx="142875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1500188"/>
            <a:ext cx="866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74A78"/>
                </a:solidFill>
              </a:rPr>
              <a:t>Operacionais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571500" y="1841302"/>
            <a:ext cx="5309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Base Ativa</a:t>
            </a:r>
            <a:endParaRPr lang="en-US" sz="734" dirty="0"/>
          </a:p>
        </p:txBody>
      </p:sp>
      <p:sp>
        <p:nvSpPr>
          <p:cNvPr id="10" name="Text 6"/>
          <p:cNvSpPr/>
          <p:nvPr/>
        </p:nvSpPr>
        <p:spPr>
          <a:xfrm>
            <a:off x="2058767" y="1841302"/>
            <a:ext cx="8463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Monitoramento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571500" y="2059186"/>
            <a:ext cx="57543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Churn Rate</a:t>
            </a:r>
            <a:endParaRPr lang="en-US" sz="734" dirty="0"/>
          </a:p>
        </p:txBody>
      </p:sp>
      <p:sp>
        <p:nvSpPr>
          <p:cNvPr id="12" name="Text 8"/>
          <p:cNvSpPr/>
          <p:nvPr/>
        </p:nvSpPr>
        <p:spPr>
          <a:xfrm>
            <a:off x="2444753" y="2059186"/>
            <a:ext cx="4603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Controle</a:t>
            </a:r>
            <a:endParaRPr lang="en-US" sz="734" dirty="0"/>
          </a:p>
        </p:txBody>
      </p:sp>
      <p:sp>
        <p:nvSpPr>
          <p:cNvPr id="13" name="Text 9"/>
          <p:cNvSpPr/>
          <p:nvPr/>
        </p:nvSpPr>
        <p:spPr>
          <a:xfrm>
            <a:off x="571500" y="2277070"/>
            <a:ext cx="5519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CAC Médio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2299562" y="2277070"/>
            <a:ext cx="6055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Otimização</a:t>
            </a:r>
            <a:endParaRPr lang="en-US" sz="734" dirty="0"/>
          </a:p>
        </p:txBody>
      </p:sp>
      <p:sp>
        <p:nvSpPr>
          <p:cNvPr id="15" name="Text 11"/>
          <p:cNvSpPr/>
          <p:nvPr/>
        </p:nvSpPr>
        <p:spPr>
          <a:xfrm>
            <a:off x="571500" y="2494955"/>
            <a:ext cx="6356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LTV / Cliente</a:t>
            </a:r>
            <a:endParaRPr lang="en-US" sz="734" dirty="0"/>
          </a:p>
        </p:txBody>
      </p:sp>
      <p:sp>
        <p:nvSpPr>
          <p:cNvPr id="16" name="Text 12"/>
          <p:cNvSpPr/>
          <p:nvPr/>
        </p:nvSpPr>
        <p:spPr>
          <a:xfrm>
            <a:off x="2203652" y="2494955"/>
            <a:ext cx="7014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Maximização</a:t>
            </a:r>
            <a:endParaRPr lang="en-US" sz="734" dirty="0"/>
          </a:p>
        </p:txBody>
      </p:sp>
      <p:sp>
        <p:nvSpPr>
          <p:cNvPr id="17" name="Shape 13"/>
          <p:cNvSpPr/>
          <p:nvPr/>
        </p:nvSpPr>
        <p:spPr>
          <a:xfrm>
            <a:off x="3262294" y="1357313"/>
            <a:ext cx="2619384" cy="1512689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69" y="1520726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90906" y="1500188"/>
            <a:ext cx="782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74A78"/>
                </a:solidFill>
              </a:rPr>
              <a:t>Financeiros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3405169" y="1841302"/>
            <a:ext cx="8975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MRR Consolidado</a:t>
            </a:r>
            <a:endParaRPr lang="en-US" sz="734" dirty="0"/>
          </a:p>
        </p:txBody>
      </p:sp>
      <p:sp>
        <p:nvSpPr>
          <p:cNvPr id="21" name="Text 16"/>
          <p:cNvSpPr/>
          <p:nvPr/>
        </p:nvSpPr>
        <p:spPr>
          <a:xfrm>
            <a:off x="5067877" y="1841302"/>
            <a:ext cx="67092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Crescimento</a:t>
            </a:r>
            <a:endParaRPr lang="en-US" sz="734" dirty="0"/>
          </a:p>
        </p:txBody>
      </p:sp>
      <p:sp>
        <p:nvSpPr>
          <p:cNvPr id="22" name="Text 17"/>
          <p:cNvSpPr/>
          <p:nvPr/>
        </p:nvSpPr>
        <p:spPr>
          <a:xfrm>
            <a:off x="3405169" y="2059186"/>
            <a:ext cx="10834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Margem Operacional</a:t>
            </a:r>
            <a:endParaRPr lang="en-US" sz="734" dirty="0"/>
          </a:p>
        </p:txBody>
      </p:sp>
      <p:sp>
        <p:nvSpPr>
          <p:cNvPr id="23" name="Text 18"/>
          <p:cNvSpPr/>
          <p:nvPr/>
        </p:nvSpPr>
        <p:spPr>
          <a:xfrm>
            <a:off x="5229588" y="2059186"/>
            <a:ext cx="50921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Expansão</a:t>
            </a:r>
            <a:endParaRPr lang="en-US" sz="734" dirty="0"/>
          </a:p>
        </p:txBody>
      </p:sp>
      <p:sp>
        <p:nvSpPr>
          <p:cNvPr id="24" name="Text 19"/>
          <p:cNvSpPr/>
          <p:nvPr/>
        </p:nvSpPr>
        <p:spPr>
          <a:xfrm>
            <a:off x="3405169" y="2277070"/>
            <a:ext cx="8554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EBITDA Ajustado</a:t>
            </a:r>
            <a:endParaRPr lang="en-US" sz="734" dirty="0"/>
          </a:p>
        </p:txBody>
      </p:sp>
      <p:sp>
        <p:nvSpPr>
          <p:cNvPr id="25" name="Text 20"/>
          <p:cNvSpPr/>
          <p:nvPr/>
        </p:nvSpPr>
        <p:spPr>
          <a:xfrm>
            <a:off x="5463183" y="2277070"/>
            <a:ext cx="2756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Meta</a:t>
            </a:r>
            <a:endParaRPr lang="en-US" sz="734" dirty="0"/>
          </a:p>
        </p:txBody>
      </p:sp>
      <p:sp>
        <p:nvSpPr>
          <p:cNvPr id="26" name="Text 21"/>
          <p:cNvSpPr/>
          <p:nvPr/>
        </p:nvSpPr>
        <p:spPr>
          <a:xfrm>
            <a:off x="3405169" y="2494955"/>
            <a:ext cx="73616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Fluxo de Caixa</a:t>
            </a:r>
            <a:endParaRPr lang="en-US" sz="734" dirty="0"/>
          </a:p>
        </p:txBody>
      </p:sp>
      <p:sp>
        <p:nvSpPr>
          <p:cNvPr id="27" name="Text 22"/>
          <p:cNvSpPr/>
          <p:nvPr/>
        </p:nvSpPr>
        <p:spPr>
          <a:xfrm>
            <a:off x="5312745" y="2494955"/>
            <a:ext cx="42605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Positivo</a:t>
            </a:r>
            <a:endParaRPr lang="en-US" sz="734" dirty="0"/>
          </a:p>
        </p:txBody>
      </p:sp>
      <p:sp>
        <p:nvSpPr>
          <p:cNvPr id="28" name="Shape 23"/>
          <p:cNvSpPr/>
          <p:nvPr/>
        </p:nvSpPr>
        <p:spPr>
          <a:xfrm>
            <a:off x="6095991" y="1357313"/>
            <a:ext cx="2619356" cy="1512689"/>
          </a:xfrm>
          <a:prstGeom prst="rect">
            <a:avLst/>
          </a:prstGeom>
          <a:solidFill>
            <a:srgbClr val="F8F9FA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66" y="1520726"/>
            <a:ext cx="114300" cy="1143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24603" y="1500188"/>
            <a:ext cx="821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74A78"/>
                </a:solidFill>
              </a:rPr>
              <a:t>Estratégicos</a:t>
            </a:r>
            <a:endParaRPr lang="en-US" sz="784" dirty="0"/>
          </a:p>
        </p:txBody>
      </p:sp>
      <p:sp>
        <p:nvSpPr>
          <p:cNvPr id="31" name="Text 25"/>
          <p:cNvSpPr/>
          <p:nvPr/>
        </p:nvSpPr>
        <p:spPr>
          <a:xfrm>
            <a:off x="6238866" y="1841302"/>
            <a:ext cx="9025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Taxa de Cross-sell</a:t>
            </a:r>
            <a:endParaRPr lang="en-US" sz="734" dirty="0"/>
          </a:p>
        </p:txBody>
      </p:sp>
      <p:sp>
        <p:nvSpPr>
          <p:cNvPr id="32" name="Text 26"/>
          <p:cNvSpPr/>
          <p:nvPr/>
        </p:nvSpPr>
        <p:spPr>
          <a:xfrm>
            <a:off x="8134192" y="1841302"/>
            <a:ext cx="43828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Sinergia</a:t>
            </a:r>
            <a:endParaRPr lang="en-US" sz="734" dirty="0"/>
          </a:p>
        </p:txBody>
      </p:sp>
      <p:sp>
        <p:nvSpPr>
          <p:cNvPr id="33" name="Text 27"/>
          <p:cNvSpPr/>
          <p:nvPr/>
        </p:nvSpPr>
        <p:spPr>
          <a:xfrm>
            <a:off x="6238866" y="2059186"/>
            <a:ext cx="10886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% Receita Recorrente</a:t>
            </a:r>
            <a:endParaRPr lang="en-US" sz="734" dirty="0"/>
          </a:p>
        </p:txBody>
      </p:sp>
      <p:sp>
        <p:nvSpPr>
          <p:cNvPr id="34" name="Text 28"/>
          <p:cNvSpPr/>
          <p:nvPr/>
        </p:nvSpPr>
        <p:spPr>
          <a:xfrm>
            <a:off x="7918372" y="2059186"/>
            <a:ext cx="6541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Estabilidade</a:t>
            </a:r>
            <a:endParaRPr lang="en-US" sz="734" dirty="0"/>
          </a:p>
        </p:txBody>
      </p:sp>
      <p:sp>
        <p:nvSpPr>
          <p:cNvPr id="35" name="Text 29"/>
          <p:cNvSpPr/>
          <p:nvPr/>
        </p:nvSpPr>
        <p:spPr>
          <a:xfrm>
            <a:off x="6238866" y="2277070"/>
            <a:ext cx="113041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Eficiência Operacional</a:t>
            </a:r>
            <a:endParaRPr lang="en-US" sz="734" dirty="0"/>
          </a:p>
        </p:txBody>
      </p:sp>
      <p:sp>
        <p:nvSpPr>
          <p:cNvPr id="36" name="Text 30"/>
          <p:cNvSpPr/>
          <p:nvPr/>
        </p:nvSpPr>
        <p:spPr>
          <a:xfrm>
            <a:off x="8138573" y="2277070"/>
            <a:ext cx="4338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Diluição</a:t>
            </a:r>
            <a:endParaRPr lang="en-US" sz="734" dirty="0"/>
          </a:p>
        </p:txBody>
      </p:sp>
      <p:sp>
        <p:nvSpPr>
          <p:cNvPr id="37" name="Text 31"/>
          <p:cNvSpPr/>
          <p:nvPr/>
        </p:nvSpPr>
        <p:spPr>
          <a:xfrm>
            <a:off x="6238866" y="2494955"/>
            <a:ext cx="871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</a:rPr>
              <a:t>NPS Consolidado</a:t>
            </a:r>
            <a:endParaRPr lang="en-US" sz="734" dirty="0"/>
          </a:p>
        </p:txBody>
      </p:sp>
      <p:sp>
        <p:nvSpPr>
          <p:cNvPr id="38" name="Text 32"/>
          <p:cNvSpPr/>
          <p:nvPr/>
        </p:nvSpPr>
        <p:spPr>
          <a:xfrm>
            <a:off x="8022961" y="2494955"/>
            <a:ext cx="54951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Qualidade</a:t>
            </a:r>
            <a:endParaRPr lang="en-US" sz="734" dirty="0"/>
          </a:p>
        </p:txBody>
      </p:sp>
      <p:sp>
        <p:nvSpPr>
          <p:cNvPr id="39" name="Text 33"/>
          <p:cNvSpPr/>
          <p:nvPr/>
        </p:nvSpPr>
        <p:spPr>
          <a:xfrm>
            <a:off x="428625" y="3141464"/>
            <a:ext cx="82867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1D3F"/>
                </a:solidFill>
              </a:rPr>
              <a:t>Alavancas de Crescimento Sustentável</a:t>
            </a:r>
            <a:endParaRPr lang="en-US" sz="1090" dirty="0"/>
          </a:p>
        </p:txBody>
      </p:sp>
      <p:sp>
        <p:nvSpPr>
          <p:cNvPr id="40" name="Shape 34"/>
          <p:cNvSpPr/>
          <p:nvPr/>
        </p:nvSpPr>
        <p:spPr>
          <a:xfrm>
            <a:off x="428625" y="3498652"/>
            <a:ext cx="1964531" cy="1328738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77245"/>
            <a:ext cx="200025" cy="20002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71500" y="3984427"/>
            <a:ext cx="7053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Orgânico</a:t>
            </a:r>
            <a:endParaRPr lang="en-US" sz="885" dirty="0"/>
          </a:p>
        </p:txBody>
      </p:sp>
      <p:sp>
        <p:nvSpPr>
          <p:cNvPr id="43" name="Text 36"/>
          <p:cNvSpPr/>
          <p:nvPr/>
        </p:nvSpPr>
        <p:spPr>
          <a:xfrm>
            <a:off x="571500" y="4230886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9DDE2"/>
                </a:solidFill>
              </a:rPr>
              <a:t>Expansão da base via funil proprietário, marketing digital e otimização de conversão.</a:t>
            </a:r>
            <a:endParaRPr lang="en-US" sz="674" dirty="0"/>
          </a:p>
        </p:txBody>
      </p:sp>
      <p:sp>
        <p:nvSpPr>
          <p:cNvPr id="44" name="Shape 37"/>
          <p:cNvSpPr/>
          <p:nvPr/>
        </p:nvSpPr>
        <p:spPr>
          <a:xfrm>
            <a:off x="2536031" y="3498652"/>
            <a:ext cx="1964531" cy="1328738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8906" y="3677245"/>
            <a:ext cx="250031" cy="20002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678906" y="3984427"/>
            <a:ext cx="11999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Novos Produtos</a:t>
            </a:r>
            <a:endParaRPr lang="en-US" sz="885" dirty="0"/>
          </a:p>
        </p:txBody>
      </p:sp>
      <p:sp>
        <p:nvSpPr>
          <p:cNvPr id="47" name="Text 39"/>
          <p:cNvSpPr/>
          <p:nvPr/>
        </p:nvSpPr>
        <p:spPr>
          <a:xfrm>
            <a:off x="2678906" y="4230886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9DDE2"/>
                </a:solidFill>
              </a:rPr>
              <a:t>Lançamento de soluções complementares aproveitando a infraestrutura e base existentes.</a:t>
            </a:r>
            <a:endParaRPr lang="en-US" sz="674" dirty="0"/>
          </a:p>
        </p:txBody>
      </p:sp>
      <p:sp>
        <p:nvSpPr>
          <p:cNvPr id="48" name="Shape 40"/>
          <p:cNvSpPr/>
          <p:nvPr/>
        </p:nvSpPr>
        <p:spPr>
          <a:xfrm>
            <a:off x="4643438" y="3498652"/>
            <a:ext cx="1964531" cy="1328738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677245"/>
            <a:ext cx="225028" cy="20002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786313" y="3984427"/>
            <a:ext cx="836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Geográfico</a:t>
            </a:r>
            <a:endParaRPr lang="en-US" sz="885" dirty="0"/>
          </a:p>
        </p:txBody>
      </p:sp>
      <p:sp>
        <p:nvSpPr>
          <p:cNvPr id="51" name="Text 42"/>
          <p:cNvSpPr/>
          <p:nvPr/>
        </p:nvSpPr>
        <p:spPr>
          <a:xfrm>
            <a:off x="4786313" y="4230886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9DDE2"/>
                </a:solidFill>
              </a:rPr>
              <a:t>Expansão para novas regiões mantendo a estrutura administrativa centralizada.</a:t>
            </a:r>
            <a:endParaRPr lang="en-US" sz="674" dirty="0"/>
          </a:p>
        </p:txBody>
      </p:sp>
      <p:sp>
        <p:nvSpPr>
          <p:cNvPr id="52" name="Shape 43"/>
          <p:cNvSpPr/>
          <p:nvPr/>
        </p:nvSpPr>
        <p:spPr>
          <a:xfrm>
            <a:off x="6750844" y="3498652"/>
            <a:ext cx="1964531" cy="1328738"/>
          </a:xfrm>
          <a:prstGeom prst="rect">
            <a:avLst/>
          </a:prstGeom>
          <a:solidFill>
            <a:srgbClr val="001D3F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3719" y="3677245"/>
            <a:ext cx="250031" cy="200025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893719" y="3984427"/>
            <a:ext cx="9365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M&amp;A Seletivo</a:t>
            </a:r>
            <a:endParaRPr lang="en-US" sz="885" dirty="0"/>
          </a:p>
        </p:txBody>
      </p:sp>
      <p:sp>
        <p:nvSpPr>
          <p:cNvPr id="55" name="Text 45"/>
          <p:cNvSpPr/>
          <p:nvPr/>
        </p:nvSpPr>
        <p:spPr>
          <a:xfrm>
            <a:off x="6893719" y="4230886"/>
            <a:ext cx="167878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9DDE2"/>
                </a:solidFill>
              </a:rPr>
              <a:t>Incorporação de operações que agreguem distribuição ou base de clientes.</a:t>
            </a:r>
            <a:endParaRPr lang="en-US" sz="674" dirty="0"/>
          </a:p>
        </p:txBody>
      </p:sp>
      <p:sp>
        <p:nvSpPr>
          <p:cNvPr id="56" name="Text 46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8122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Glossário: Indicadores Operacionais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00050" y="1786328"/>
            <a:ext cx="4029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Base Ativa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00050" y="2095295"/>
            <a:ext cx="40290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Número total de clientes ou associados com contratos vigentes. Mede o tamanho e a saúde da operação.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00050" y="3079654"/>
            <a:ext cx="4029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Churn Rate (Taxa de Cancelamento)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00050" y="3388621"/>
            <a:ext cx="40290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Percentual de clientes que cancelam seus serviços em um período. Indica a retenção e satisfação do cliente.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714875" y="1786328"/>
            <a:ext cx="4029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CAC (Custo de Aquisição de Clientes)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14875" y="2095295"/>
            <a:ext cx="40290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Custo total de marketing e vendas para adquirir um novo cliente. Mede a eficiência do investimento em crescimento.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14875" y="3079654"/>
            <a:ext cx="40290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LTV (Lifetime Value)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14875" y="3388621"/>
            <a:ext cx="40290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Receita total esperada de um cliente ao longo de seu relacionamento com a empresa. Mede o valor do cliente a longo prazo.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0" y="4836319"/>
            <a:ext cx="9144000" cy="307181"/>
          </a:xfrm>
          <a:prstGeom prst="rect">
            <a:avLst/>
          </a:prstGeom>
          <a:noFill/>
          <a:ln/>
        </p:spPr>
        <p:txBody>
          <a:bodyPr wrap="square" lIns="510286" tIns="102108" rIns="510286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3A0B3"/>
                </a:solidFill>
              </a:rPr>
              <a:t>GRUPO MMB | Apresentação Institucional</a:t>
            </a:r>
            <a:endParaRPr lang="en-US" sz="72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7663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Glossário: Indicadores Financeiros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285750" y="2139944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MRR (Receita Recorrente Mensal)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285750" y="2391761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Receita previsível que a empresa espera receber mensalmente. Essencial para negócios baseados em assinatura.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85750" y="301466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Margem Operacional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85750" y="326648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Percentual de lucro gerado a partir da receita, antes de juros e impostos. Mede a eficiência e lucratividade da operação.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714875" y="2139944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EBITDA Ajustado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14875" y="2391761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Lucro antes de juros, impostos, depreciação e amortização, com ajustes para itens não recorrentes. Reflete a geração de caixa operacional.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14875" y="301466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Fluxo de Caixa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14875" y="326648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Diferença entre o dinheiro que entra e sai da empresa. Indica a capacidade da empresa de pagar suas obrigações e investir.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72243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Glossário: Indicadores Estratégicos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285750" y="201939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Taxa de Cross-sell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285750" y="227121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Percentual de clientes que adquirem produtos ou serviços adicionais. Mede a sinergia e a capacidade de monetizar a base de clientes.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85750" y="3084119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% Receita Recorrente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85750" y="3335936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Proporção da receita total que é recorrente. Indica a estabilidade e previsibilidade financeira do modelo de negócio.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714875" y="2019393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Eficiência Operacional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14875" y="2271210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Relação entre os custos operacionais e a receita. Mede a capacidade de gerar mais receita com menos custo, via diluição de despesas.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14875" y="3084119"/>
            <a:ext cx="4143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NPS (Net Promoter Score)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14875" y="3335936"/>
            <a:ext cx="4143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Métrica de lealdade que mede a disposição dos clientes em recomendar a empresa. Indica a satisfação e a qualidade percebida.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85750" y="3787387"/>
            <a:ext cx="8572500" cy="241102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GRUPO MMB | Apresentação Institucional</a:t>
            </a:r>
            <a:endParaRPr lang="en-US" sz="7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00918"/>
            <a:ext cx="40577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Gestão de Riscos e Governança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928688"/>
            <a:ext cx="71437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 GRUPO MMB adota abordagem centralizada para identificação, monitoramento e mitigação de riscos, assegurando sustentabilidade do ecossistema.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1393031"/>
            <a:ext cx="2007394" cy="18573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93031"/>
            <a:ext cx="35719" cy="1857375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623417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5103" y="1507331"/>
            <a:ext cx="149661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Riscos Regulatórios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42925" y="2060972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Exposição:</a:t>
            </a:r>
            <a:endParaRPr lang="en-US" sz="734" dirty="0"/>
          </a:p>
        </p:txBody>
      </p:sp>
      <p:sp>
        <p:nvSpPr>
          <p:cNvPr id="11" name="Text 7"/>
          <p:cNvSpPr/>
          <p:nvPr/>
        </p:nvSpPr>
        <p:spPr>
          <a:xfrm>
            <a:off x="542925" y="2262783"/>
            <a:ext cx="16359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Mudanças na regulação SUSEP e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542925" y="2418159"/>
            <a:ext cx="14542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Lei Complementar 213/2025.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542925" y="2627114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Mitigação: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542925" y="2828925"/>
            <a:ext cx="17338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Segregação funcional; Compliance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542925" y="2984302"/>
            <a:ext cx="44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proativo.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2521744" y="1393031"/>
            <a:ext cx="2007394" cy="18573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2521744" y="1393031"/>
            <a:ext cx="35719" cy="1857375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044" y="1623417"/>
            <a:ext cx="196816" cy="1571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18585" y="1507331"/>
            <a:ext cx="149625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Riscos Operacionais</a:t>
            </a:r>
            <a:endParaRPr lang="en-US" sz="987" dirty="0"/>
          </a:p>
        </p:txBody>
      </p:sp>
      <p:sp>
        <p:nvSpPr>
          <p:cNvPr id="20" name="Text 15"/>
          <p:cNvSpPr/>
          <p:nvPr/>
        </p:nvSpPr>
        <p:spPr>
          <a:xfrm>
            <a:off x="2636044" y="2060972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Exposição:</a:t>
            </a:r>
            <a:endParaRPr lang="en-US" sz="734" dirty="0"/>
          </a:p>
        </p:txBody>
      </p:sp>
      <p:sp>
        <p:nvSpPr>
          <p:cNvPr id="21" name="Text 16"/>
          <p:cNvSpPr/>
          <p:nvPr/>
        </p:nvSpPr>
        <p:spPr>
          <a:xfrm>
            <a:off x="2636044" y="2262783"/>
            <a:ext cx="148316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Fraudes, falhas de processo e</a:t>
            </a:r>
            <a:endParaRPr lang="en-US" sz="780" dirty="0"/>
          </a:p>
        </p:txBody>
      </p:sp>
      <p:sp>
        <p:nvSpPr>
          <p:cNvPr id="22" name="Text 17"/>
          <p:cNvSpPr/>
          <p:nvPr/>
        </p:nvSpPr>
        <p:spPr>
          <a:xfrm>
            <a:off x="2636044" y="2418159"/>
            <a:ext cx="7014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sinistralidade.</a:t>
            </a:r>
            <a:endParaRPr lang="en-US" sz="780" dirty="0"/>
          </a:p>
        </p:txBody>
      </p:sp>
      <p:sp>
        <p:nvSpPr>
          <p:cNvPr id="23" name="Text 18"/>
          <p:cNvSpPr/>
          <p:nvPr/>
        </p:nvSpPr>
        <p:spPr>
          <a:xfrm>
            <a:off x="2636044" y="2627114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Mitigação:</a:t>
            </a:r>
            <a:endParaRPr lang="en-US" sz="734" dirty="0"/>
          </a:p>
        </p:txBody>
      </p:sp>
      <p:sp>
        <p:nvSpPr>
          <p:cNvPr id="24" name="Text 19"/>
          <p:cNvSpPr/>
          <p:nvPr/>
        </p:nvSpPr>
        <p:spPr>
          <a:xfrm>
            <a:off x="2636044" y="2828925"/>
            <a:ext cx="168366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Controles centralizados; Sistemas</a:t>
            </a:r>
            <a:endParaRPr lang="en-US" sz="780" dirty="0"/>
          </a:p>
        </p:txBody>
      </p:sp>
      <p:sp>
        <p:nvSpPr>
          <p:cNvPr id="25" name="Text 20"/>
          <p:cNvSpPr/>
          <p:nvPr/>
        </p:nvSpPr>
        <p:spPr>
          <a:xfrm>
            <a:off x="2636044" y="2984302"/>
            <a:ext cx="93002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antifraude com IA.</a:t>
            </a:r>
            <a:endParaRPr lang="en-US" sz="780" dirty="0"/>
          </a:p>
        </p:txBody>
      </p:sp>
      <p:sp>
        <p:nvSpPr>
          <p:cNvPr id="26" name="Shape 21"/>
          <p:cNvSpPr/>
          <p:nvPr/>
        </p:nvSpPr>
        <p:spPr>
          <a:xfrm>
            <a:off x="4614863" y="1393031"/>
            <a:ext cx="2007394" cy="18573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2"/>
          <p:cNvSpPr/>
          <p:nvPr/>
        </p:nvSpPr>
        <p:spPr>
          <a:xfrm>
            <a:off x="4614863" y="1393031"/>
            <a:ext cx="35719" cy="1857375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1526084"/>
            <a:ext cx="214313" cy="15716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29200" y="1507331"/>
            <a:ext cx="14367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Riscos Comerciais</a:t>
            </a:r>
            <a:endParaRPr lang="en-US" sz="987" dirty="0"/>
          </a:p>
        </p:txBody>
      </p:sp>
      <p:sp>
        <p:nvSpPr>
          <p:cNvPr id="30" name="Text 24"/>
          <p:cNvSpPr/>
          <p:nvPr/>
        </p:nvSpPr>
        <p:spPr>
          <a:xfrm>
            <a:off x="4729163" y="1866305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Exposição:</a:t>
            </a:r>
            <a:endParaRPr lang="en-US" sz="734" dirty="0"/>
          </a:p>
        </p:txBody>
      </p:sp>
      <p:sp>
        <p:nvSpPr>
          <p:cNvPr id="31" name="Text 25"/>
          <p:cNvSpPr/>
          <p:nvPr/>
        </p:nvSpPr>
        <p:spPr>
          <a:xfrm>
            <a:off x="4729163" y="2068116"/>
            <a:ext cx="16563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Aumento do CAC, churn e menor</a:t>
            </a:r>
            <a:endParaRPr lang="en-US" sz="780" dirty="0"/>
          </a:p>
        </p:txBody>
      </p:sp>
      <p:sp>
        <p:nvSpPr>
          <p:cNvPr id="32" name="Text 26"/>
          <p:cNvSpPr/>
          <p:nvPr/>
        </p:nvSpPr>
        <p:spPr>
          <a:xfrm>
            <a:off x="4729163" y="2223492"/>
            <a:ext cx="5466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conversão.</a:t>
            </a:r>
            <a:endParaRPr lang="en-US" sz="780" dirty="0"/>
          </a:p>
        </p:txBody>
      </p:sp>
      <p:sp>
        <p:nvSpPr>
          <p:cNvPr id="33" name="Text 27"/>
          <p:cNvSpPr/>
          <p:nvPr/>
        </p:nvSpPr>
        <p:spPr>
          <a:xfrm>
            <a:off x="4729163" y="2432447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Mitigação:</a:t>
            </a:r>
            <a:endParaRPr lang="en-US" sz="734" dirty="0"/>
          </a:p>
        </p:txBody>
      </p:sp>
      <p:sp>
        <p:nvSpPr>
          <p:cNvPr id="34" name="Text 28"/>
          <p:cNvSpPr/>
          <p:nvPr/>
        </p:nvSpPr>
        <p:spPr>
          <a:xfrm>
            <a:off x="4729163" y="2634258"/>
            <a:ext cx="16308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Funil proprietário; Diversificação</a:t>
            </a:r>
            <a:endParaRPr lang="en-US" sz="780" dirty="0"/>
          </a:p>
        </p:txBody>
      </p:sp>
      <p:sp>
        <p:nvSpPr>
          <p:cNvPr id="35" name="Text 29"/>
          <p:cNvSpPr/>
          <p:nvPr/>
        </p:nvSpPr>
        <p:spPr>
          <a:xfrm>
            <a:off x="4729163" y="2789634"/>
            <a:ext cx="4997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de canais.</a:t>
            </a:r>
            <a:endParaRPr lang="en-US" sz="780" dirty="0"/>
          </a:p>
        </p:txBody>
      </p:sp>
      <p:sp>
        <p:nvSpPr>
          <p:cNvPr id="36" name="Shape 30"/>
          <p:cNvSpPr/>
          <p:nvPr/>
        </p:nvSpPr>
        <p:spPr>
          <a:xfrm>
            <a:off x="6707981" y="1393031"/>
            <a:ext cx="2007394" cy="185737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Shape 31"/>
          <p:cNvSpPr/>
          <p:nvPr/>
        </p:nvSpPr>
        <p:spPr>
          <a:xfrm>
            <a:off x="6707981" y="1393031"/>
            <a:ext cx="35719" cy="1857375"/>
          </a:xfrm>
          <a:prstGeom prst="rect">
            <a:avLst/>
          </a:prstGeom>
          <a:solidFill>
            <a:srgbClr val="274A78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281" y="1623417"/>
            <a:ext cx="208648" cy="15716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16654" y="1507331"/>
            <a:ext cx="148442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1D3F"/>
                </a:solidFill>
              </a:rPr>
              <a:t>Riscos Financeiros</a:t>
            </a:r>
            <a:endParaRPr lang="en-US" sz="987" dirty="0"/>
          </a:p>
        </p:txBody>
      </p:sp>
      <p:sp>
        <p:nvSpPr>
          <p:cNvPr id="40" name="Text 33"/>
          <p:cNvSpPr/>
          <p:nvPr/>
        </p:nvSpPr>
        <p:spPr>
          <a:xfrm>
            <a:off x="6822281" y="2060972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Exposição:</a:t>
            </a:r>
            <a:endParaRPr lang="en-US" sz="734" dirty="0"/>
          </a:p>
        </p:txBody>
      </p:sp>
      <p:sp>
        <p:nvSpPr>
          <p:cNvPr id="41" name="Text 34"/>
          <p:cNvSpPr/>
          <p:nvPr/>
        </p:nvSpPr>
        <p:spPr>
          <a:xfrm>
            <a:off x="6822281" y="2262783"/>
            <a:ext cx="17171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Inadimplência e descasamento de</a:t>
            </a:r>
            <a:endParaRPr lang="en-US" sz="780" dirty="0"/>
          </a:p>
        </p:txBody>
      </p:sp>
      <p:sp>
        <p:nvSpPr>
          <p:cNvPr id="42" name="Text 35"/>
          <p:cNvSpPr/>
          <p:nvPr/>
        </p:nvSpPr>
        <p:spPr>
          <a:xfrm>
            <a:off x="6822281" y="2418159"/>
            <a:ext cx="28471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caixa.</a:t>
            </a:r>
            <a:endParaRPr lang="en-US" sz="780" dirty="0"/>
          </a:p>
        </p:txBody>
      </p:sp>
      <p:sp>
        <p:nvSpPr>
          <p:cNvPr id="43" name="Text 36"/>
          <p:cNvSpPr/>
          <p:nvPr/>
        </p:nvSpPr>
        <p:spPr>
          <a:xfrm>
            <a:off x="6822281" y="2627114"/>
            <a:ext cx="177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1D3F"/>
                </a:solidFill>
              </a:rPr>
              <a:t>Mitigação:</a:t>
            </a:r>
            <a:endParaRPr lang="en-US" sz="734" dirty="0"/>
          </a:p>
        </p:txBody>
      </p:sp>
      <p:sp>
        <p:nvSpPr>
          <p:cNvPr id="44" name="Text 37"/>
          <p:cNvSpPr/>
          <p:nvPr/>
        </p:nvSpPr>
        <p:spPr>
          <a:xfrm>
            <a:off x="6822281" y="2828925"/>
            <a:ext cx="15474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Gestão financeira centralizada;</a:t>
            </a:r>
            <a:endParaRPr lang="en-US" sz="780" dirty="0"/>
          </a:p>
        </p:txBody>
      </p:sp>
      <p:sp>
        <p:nvSpPr>
          <p:cNvPr id="45" name="Text 38"/>
          <p:cNvSpPr/>
          <p:nvPr/>
        </p:nvSpPr>
        <p:spPr>
          <a:xfrm>
            <a:off x="6822281" y="2984302"/>
            <a:ext cx="10456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444444"/>
                </a:solidFill>
              </a:rPr>
              <a:t>Controles de crédito.</a:t>
            </a:r>
            <a:endParaRPr lang="en-US" sz="780" dirty="0"/>
          </a:p>
        </p:txBody>
      </p:sp>
      <p:sp>
        <p:nvSpPr>
          <p:cNvPr id="46" name="Shape 39"/>
          <p:cNvSpPr/>
          <p:nvPr/>
        </p:nvSpPr>
        <p:spPr>
          <a:xfrm>
            <a:off x="428625" y="3421856"/>
            <a:ext cx="8286750" cy="346472"/>
          </a:xfrm>
          <a:prstGeom prst="rect">
            <a:avLst/>
          </a:prstGeom>
          <a:solidFill>
            <a:srgbClr val="001D3F"/>
          </a:solidFill>
          <a:ln/>
        </p:spPr>
      </p:sp>
      <p:sp>
        <p:nvSpPr>
          <p:cNvPr id="47" name="Text 40"/>
          <p:cNvSpPr/>
          <p:nvPr/>
        </p:nvSpPr>
        <p:spPr>
          <a:xfrm>
            <a:off x="571500" y="3507581"/>
            <a:ext cx="2115443" cy="175022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Governança Institucional</a:t>
            </a:r>
            <a:endParaRPr lang="en-US" sz="885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9818" y="3545086"/>
            <a:ext cx="112514" cy="100013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2999482" y="3527227"/>
            <a:ext cx="6607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Transparência</a:t>
            </a:r>
            <a:endParaRPr lang="en-US" sz="727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154" y="3545086"/>
            <a:ext cx="125016" cy="100013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3985320" y="3527227"/>
            <a:ext cx="1257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Alinhamento de Interesses</a:t>
            </a:r>
            <a:endParaRPr lang="en-US" sz="727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5774" y="3545086"/>
            <a:ext cx="112514" cy="100013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555438" y="3527227"/>
            <a:ext cx="11090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Segregação de Funções</a:t>
            </a:r>
            <a:endParaRPr lang="en-US" sz="727" dirty="0"/>
          </a:p>
        </p:txBody>
      </p:sp>
      <p:sp>
        <p:nvSpPr>
          <p:cNvPr id="54" name="Text 44"/>
          <p:cNvSpPr/>
          <p:nvPr/>
        </p:nvSpPr>
        <p:spPr>
          <a:xfrm>
            <a:off x="7020074" y="4813102"/>
            <a:ext cx="16953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GRUPO MMB | Apresentação Institucional</a:t>
            </a:r>
            <a:endParaRPr lang="en-US" sz="62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84085" y="557213"/>
            <a:ext cx="2175802" cy="43576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spc="1" kern="0" dirty="0">
                <a:solidFill>
                  <a:srgbClr val="FFFFFF"/>
                </a:solidFill>
              </a:rPr>
              <a:t>Oportunidade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314450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4531" y="1278731"/>
            <a:ext cx="250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Plataforma integrada com governança sólida e compliance.</a:t>
            </a:r>
            <a:endParaRPr lang="en-US" sz="1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1314450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29188" y="1278731"/>
            <a:ext cx="250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Receitas recorrentes e alta previsibilidade de caixa.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928813"/>
            <a:ext cx="142875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64531" y="1893094"/>
            <a:ext cx="250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Potencial de crescimento escalável (Orgânico e M&amp;A).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928813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929188" y="1893094"/>
            <a:ext cx="2500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Mitigação de riscos via segregação funcional.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2735554" y="2721769"/>
            <a:ext cx="3672864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GRUPO MMB</a:t>
            </a:r>
            <a:endParaRPr lang="en-US" sz="3294" dirty="0"/>
          </a:p>
        </p:txBody>
      </p:sp>
      <p:sp>
        <p:nvSpPr>
          <p:cNvPr id="13" name="Text 6"/>
          <p:cNvSpPr/>
          <p:nvPr/>
        </p:nvSpPr>
        <p:spPr>
          <a:xfrm>
            <a:off x="2735554" y="3416498"/>
            <a:ext cx="36728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D9DDE2"/>
                </a:solidFill>
              </a:rPr>
              <a:t>Mobilidade • Multiproteção • Benefícios</a:t>
            </a:r>
            <a:endParaRPr lang="en-US" sz="885" dirty="0"/>
          </a:p>
        </p:txBody>
      </p:sp>
      <p:sp>
        <p:nvSpPr>
          <p:cNvPr id="14" name="Shape 7"/>
          <p:cNvSpPr/>
          <p:nvPr/>
        </p:nvSpPr>
        <p:spPr>
          <a:xfrm>
            <a:off x="2046377" y="3948708"/>
            <a:ext cx="5051217" cy="63758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146" y="4181773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760752" y="4170164"/>
            <a:ext cx="17329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contato@grupommb.com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323" y="4181773"/>
            <a:ext cx="171450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00929" y="4170164"/>
            <a:ext cx="1460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www.grupommb.com</a:t>
            </a:r>
            <a:endParaRPr lang="en-US" sz="1050" dirty="0"/>
          </a:p>
        </p:txBody>
      </p:sp>
      <p:sp>
        <p:nvSpPr>
          <p:cNvPr id="19" name="Text 10"/>
          <p:cNvSpPr/>
          <p:nvPr/>
        </p:nvSpPr>
        <p:spPr>
          <a:xfrm>
            <a:off x="6398651" y="4813102"/>
            <a:ext cx="23167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Apresentação Institucional para Investidores Qualificados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2026-02-06T17:44:26Z</dcterms:created>
  <dcterms:modified xsi:type="dcterms:W3CDTF">2026-02-06T17:44:26Z</dcterms:modified>
</cp:coreProperties>
</file>